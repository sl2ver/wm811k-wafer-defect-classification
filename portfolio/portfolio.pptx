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40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웨이퍼 맵 불량 패턴 분류</a:t>
            </a:r>
            <a:endParaRPr lang="ko-KR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6060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20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lot 단위로 나눈 평가에서 macro-F1 0.909를 확인한 소형 CNN</a:t>
            </a:r>
            <a:endParaRPr lang="ko-KR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546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코딩 에이전트 Claude Code와 역할을 나눠 진행: 판단·검증은 본인, 구현·실험은 AI</a:t>
            </a:r>
            <a:endParaRPr lang="ko-KR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747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WM-811K 공개 데이터  |  개인 프로젝트  |  2026. 9.</a:t>
            </a:r>
            <a:endParaRPr lang="ko-KR" sz="1400" dirty="0"/>
          </a:p>
        </p:txBody>
      </p:sp>
      <p:pic>
        <p:nvPicPr>
          <p:cNvPr id="6" name="Image 0" descr="fig/p1_wafer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23360"/>
            <a:ext cx="10881360" cy="1463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852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6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이진성</a:t>
            </a:r>
            <a:endParaRPr lang="ko-KR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217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서울과학기술대학교 전기정보공학과 석사과정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개요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학습에 쓰지 않은 lot에서 macro-F1 0.909를 확인했습니다.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평가 방식을 먼저 고치고, 결과를 다섯 가지 방법으로 검증했습니다.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8</a:t>
            </a:r>
            <a:endParaRPr lang="ko-KR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6400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5257800"/>
              </a:tblGrid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기간·형태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2026년 9월, 개인 프로젝트(1인)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WM-811K 웨이퍼 맵 811,457장 중 라벨 있는 172,950장, 불량 패턴 9종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웨이퍼의 복사본이 학습과 평가에 섞이는 누수를 막고,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lot에서의 성능을 재기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0.843(베이스라인) → 0.909(CNN), 모든 패턴 recall 0.77 이상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 정의·평가 설계·판단·검증: 본인 /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 구현·실험·문헌 조사: Claude Code(AI 코딩 에이전트)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활용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Code(구현·실험) + 별도 검증 에이전트 45개(워크플로 10회).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체크포인트 6개에서 판단 13건, 오류 15건 기록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3.12, PyTorch 2.7(CUDA 11.8),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scikit-learn 1.9.1, Streamlit, Quadro P2000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406640" y="2194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2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ko-KR" sz="1200" dirty="0"/>
          </a:p>
        </p:txBody>
      </p:sp>
      <p:sp>
        <p:nvSpPr>
          <p:cNvPr id="9" name="Shape 6"/>
          <p:cNvSpPr/>
          <p:nvPr/>
        </p:nvSpPr>
        <p:spPr>
          <a:xfrm>
            <a:off x="7406640" y="2514600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43800" y="2514600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탐색과 누수 확인</a:t>
            </a:r>
            <a:endParaRPr lang="ko-KR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744200" y="2514600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3쪽</a:t>
            </a:r>
            <a:endParaRPr lang="ko-KR" sz="1200" dirty="0"/>
          </a:p>
        </p:txBody>
      </p:sp>
      <p:sp>
        <p:nvSpPr>
          <p:cNvPr id="12" name="Shape 9"/>
          <p:cNvSpPr/>
          <p:nvPr/>
        </p:nvSpPr>
        <p:spPr>
          <a:xfrm>
            <a:off x="7406640" y="3026664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43800" y="3026664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설계: lot 단위 분할, 성공 기준</a:t>
            </a:r>
            <a:endParaRPr lang="ko-KR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744200" y="3026664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3쪽</a:t>
            </a:r>
            <a:endParaRPr lang="ko-KR" sz="1200" dirty="0"/>
          </a:p>
        </p:txBody>
      </p:sp>
      <p:sp>
        <p:nvSpPr>
          <p:cNvPr id="15" name="Shape 12"/>
          <p:cNvSpPr/>
          <p:nvPr/>
        </p:nvSpPr>
        <p:spPr>
          <a:xfrm>
            <a:off x="7406640" y="3538728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43800" y="3538728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베이스라인과 소형 CNN</a:t>
            </a:r>
            <a:endParaRPr lang="ko-KR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744200" y="3538728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4쪽</a:t>
            </a:r>
            <a:endParaRPr lang="ko-KR" sz="1200" dirty="0"/>
          </a:p>
        </p:txBody>
      </p:sp>
      <p:sp>
        <p:nvSpPr>
          <p:cNvPr id="18" name="Shape 15"/>
          <p:cNvSpPr/>
          <p:nvPr/>
        </p:nvSpPr>
        <p:spPr>
          <a:xfrm>
            <a:off x="7406640" y="4050792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43800" y="4050792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다섯 가지와 오류 수정</a:t>
            </a:r>
            <a:endParaRPr lang="ko-KR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744200" y="4050792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5쪽</a:t>
            </a:r>
            <a:endParaRPr lang="ko-KR" sz="1200" dirty="0"/>
          </a:p>
        </p:txBody>
      </p:sp>
      <p:sp>
        <p:nvSpPr>
          <p:cNvPr id="21" name="Shape 18"/>
          <p:cNvSpPr/>
          <p:nvPr/>
        </p:nvSpPr>
        <p:spPr>
          <a:xfrm>
            <a:off x="7406640" y="4562856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43800" y="4562856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방식: 지시와 역할</a:t>
            </a:r>
            <a:endParaRPr lang="ko-KR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0744200" y="4562856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6쪽</a:t>
            </a:r>
            <a:endParaRPr lang="ko-KR" sz="1200" dirty="0"/>
          </a:p>
        </p:txBody>
      </p:sp>
      <p:sp>
        <p:nvSpPr>
          <p:cNvPr id="24" name="Shape 21"/>
          <p:cNvSpPr/>
          <p:nvPr/>
        </p:nvSpPr>
        <p:spPr>
          <a:xfrm>
            <a:off x="7406640" y="5074920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543800" y="5074920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방식: 검증과 오류 적발</a:t>
            </a:r>
            <a:endParaRPr lang="ko-KR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0744200" y="5074920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7쪽</a:t>
            </a:r>
            <a:endParaRPr lang="ko-KR" sz="1200" dirty="0"/>
          </a:p>
        </p:txBody>
      </p:sp>
      <p:sp>
        <p:nvSpPr>
          <p:cNvPr id="27" name="Shape 24"/>
          <p:cNvSpPr/>
          <p:nvPr/>
        </p:nvSpPr>
        <p:spPr>
          <a:xfrm>
            <a:off x="7406640" y="5586984"/>
            <a:ext cx="4142232" cy="429768"/>
          </a:xfrm>
          <a:prstGeom prst="roundRect">
            <a:avLst>
              <a:gd name="adj" fmla="val 1276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543800" y="5586984"/>
            <a:ext cx="3291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결론·한계·재현 정보</a:t>
            </a:r>
            <a:endParaRPr lang="ko-KR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0744200" y="5586984"/>
            <a:ext cx="7315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8쪽</a:t>
            </a:r>
            <a:endParaRPr lang="ko-KR" sz="12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5440680"/>
          <a:ext cx="64008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0"/>
              </a:tblGrid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공정 조건으로 함께 처리한 웨이퍼 묶음(최대 25장).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lot의 맵은 서로 닮아서 분할의 기본 단위로 씀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 9종 F1의 단순 평균. 85%를 차지하는 none에 점수가 치우치지 않음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recall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실제 그 패턴인 웨이퍼 중 맞힌 비율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정의: 데이터와 평가 방식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분할과 무작위 분할은 같은 웨이퍼의 복사본이 학습과 평가 양쪽에 들어가 점수가 부풀려집니다.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그래서 lot과 복사본을 한 묶음으로 나눴습니다.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scripts/explore_data.py, scripts/make_splits.py → outputs/eda/summary.json, outputs/splits/split_summary.json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8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 3겹</a:t>
            </a:r>
            <a:endParaRPr lang="ko-KR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95728"/>
          <a:ext cx="55778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16052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원본 분할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 3,158장이 train의 복사본.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맵에 다른 라벨이 붙은 쌍 14개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 단위 분할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재검사로 생긴 거의 같은 맵이 양쪽에 남음.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Center 패턴은 test의 40.7%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반전·회전 복사본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뒤집거나 돌린 복사본도 있어 8가지 변환을 모두 비교해서 묶음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840480"/>
          <a:ext cx="55778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434840"/>
              </a:tblGrid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 있는 172,950장 사용.</a:t>
                      </a:r>
                      <a:br/>
                      <a:pPr latinLnBrk="0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none 85.2%, Near-full 149장(0.09%)으로 불균형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채택한 분할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lot과 10픽셀 이내 복사본(반전·회전 포함)을 한 묶음으로 나눔.</a:t>
                      </a:r>
                      <a:br/>
                      <a:pPr latinLnBrk="0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학습:검증:테스트 = 70:15:15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성공 기준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 macro-F1 0.80 이상, 모든 패턴 recall 0.50 이상,</a:t>
                      </a:r>
                      <a:br/>
                      <a:pPr latinLnBrk="0" indent="0" marL="0">
                        <a:buNone/>
                      </a:pPr>
                      <a:r>
                        <a:rPr lang="ko-KR" sz="13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 초과. 95% 신뢰구간 병기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5532120"/>
            <a:ext cx="5577840" cy="749808"/>
          </a:xfrm>
          <a:prstGeom prst="roundRect">
            <a:avLst>
              <a:gd name="adj" fmla="val 6098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586984"/>
          <a:ext cx="535838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443984"/>
              </a:tblGrid>
              <a:tr h="237744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탐색·정제·분할 스크립트 3개 구현, 이상점 탐색 에이전트 10개 병렬 실행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정제 규칙, 분할 방식, 성공 기준 결정(판단 지점 6·7).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 없는 638,507장 제외 결정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3" name="Image 0" descr="fig/p3_leak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148840"/>
            <a:ext cx="51206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결과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데이터·같은 분할·같은 test 25,444장에서 소형 CNN이 베이스라인보다 macro-F1 0.066 높았고,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Loc·Scratch recall이 가장 크게 올랐습니다.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scripts/baseline.py, train_cnn.py, evaluate_cnn.py → outputs/baseline/results.json, outputs/cnn/results.json. 신뢰구간은 연결 성분 부트스트랩 1,000회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8</a:t>
            </a:r>
            <a:endParaRPr lang="ko-KR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6692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874520"/>
                <a:gridCol w="1143000"/>
              </a:tblGrid>
              <a:tr h="32918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(95% CI)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최저 recall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베이스라인: 특징 23개 + 랜덤 포레스트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0.843 (0.820–0.858)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0.497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CNN, CE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0.901 (0.863–0.918)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0.763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CNN, CE + val 보정 (최종)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0.909 (0.885–0.922)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0.775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84448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</a:tblGrid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64×64로 축소. 축소할 때 블록 최대값을 써서</a:t>
                      </a:r>
                      <a:br/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1다이 폭 Scratch를 남김. 반전·회전 8종 증강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합성곱 블록 4개, 파라미터 58만, CE 20 epoch(GPU 40분).</a:t>
                      </a:r>
                      <a:br/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패턴별 점수 보정값은 val에서만 정함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 없던 시도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class-weighted CE: macro-F1 0.825,</a:t>
                      </a:r>
                      <a:br/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none 오탐 증가 → 미채택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엔지니어가 어떤 웨이퍼를 먼저 볼지 정하는 1차 분류 보조.</a:t>
                      </a:r>
                      <a:br/>
                      <a:pPr latinLnBrk="0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 폐기 판정에는 부적합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468112"/>
            <a:ext cx="5669280" cy="868680"/>
          </a:xfrm>
          <a:prstGeom prst="roundRect">
            <a:avLst>
              <a:gd name="adj" fmla="val 5263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522976"/>
          <a:ext cx="544982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535424"/>
              </a:tblGrid>
              <a:tr h="237744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특징 23개·랜덤 포레스트·CNN 구현, 학습 5회(CE,</a:t>
                      </a:r>
                      <a:br/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weighted CE, 셔플 라벨, 무작위 분할, 재학습)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방향과 입력 크기 결정(판단 지점 8),</a:t>
                      </a:r>
                      <a:br/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weighted CE 폐기와 val 보정 채택(판단 지점 10)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fig/p4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148840"/>
            <a:ext cx="51206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검증과 오류 수정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점수가 예상보다 높게 나온 이유를 확인하려고 다섯 가지를 검증했고,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과정에서 분할 절차의 오류 하나를 찾아 고쳤습니다.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outputs/splits/split_seed_variance.json, outputs/cnn/outline_intervention.json, scripts/compare_reproduction.py, LOG.md 오류 기록 E11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8</a:t>
            </a:r>
            <a:endParaRPr lang="ko-KR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943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606040"/>
                <a:gridCol w="2103120"/>
              </a:tblGrid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방법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우연 수준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라벨을 섞어 같은 CNN 학습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 0.102 (우연 수준)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누수 제거 효과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무작위 분할 vs lot 분할, 같은 모델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0.895 vs 0.909, 차이 없음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지름길 학습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25×27 제품 외곽선을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제품 것으로 교체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99.5% 이상 유지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오분류 검토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96장을 라벨 가린 채 독립 판정 2회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애매 46% / 모델 오류 27% /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 의심 27%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재현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폴더에 clone 후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README 순서로 재실행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1시간 8분,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 항목 10개 일치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5029200"/>
            <a:ext cx="5943600" cy="749808"/>
          </a:xfrm>
          <a:prstGeom prst="roundRect">
            <a:avLst>
              <a:gd name="adj" fmla="val 6098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5084064"/>
          <a:ext cx="572414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809744"/>
              </a:tblGrid>
              <a:tr h="237744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에이전트 4개 병렬(지표 재계산, 짝비교, 지름길,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이중맹검), 개입 실험·재현 비교 스크립트 구현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오류 판정과 절차 수정 후 전부 재학습 결정(판단 지점 9),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재현 범위 결정(판단 지점 11·12)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fig/p5_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2103120"/>
            <a:ext cx="4361688" cy="23774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12280" y="4553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오류 (LOG E11)</a:t>
            </a:r>
            <a:endParaRPr lang="ko-KR" sz="13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4828032"/>
          <a:ext cx="47548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251960"/>
              </a:tblGrid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원인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StratifiedGroupKFold(scikit-learn 1.9.1)가 크고</a:t>
                      </a:r>
                      <a:br/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치우친 그룹을 seed와 무관하게 같은 fold에 배정 →</a:t>
                      </a:r>
                      <a:br/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맞히기 쉬운 Loc 웨이퍼 132장이 항상 test에 들어감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발견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 점수가 이유 없이 오름 → seed 10개로 다시 나눠 Loc</a:t>
                      </a:r>
                      <a:br/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recall 최대 15%p 차이 확인 → lot 묶음 하나를 test에서 빼 보는 실험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수정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fold 배정을 seed로 무작위 치환하고 모든 모델 재학습(0.893 → 0.909).</a:t>
                      </a:r>
                      <a:br/>
                      <a:pPr latinLnBrk="0" indent="0" marL="0">
                        <a:buNone/>
                      </a:pPr>
                      <a:r>
                        <a:rPr lang="ko-KR" sz="10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분할 직후 겹침과 lot 묶음 비중을 검사하는 단계 추가</a:t>
                      </a:r>
                      <a:endParaRPr lang="ko-KR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방식 ①  지시와 역할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첫 지시문에 AI가 할 일과 멈출 지점, 수치와 오류의 기록 규칙을 정해 두고,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체크포인트 6개에서 판단 13건을 내렸습니다.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docs/wafer_project_prompt.md(첫 지시문 원문), LOG.md 지시 원문·판단 지점 1~13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8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지시문에서 정한 규칙 (원문)</a:t>
            </a:r>
            <a:endParaRPr lang="ko-KR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5486400" cy="2926080"/>
          </a:xfrm>
          <a:prstGeom prst="roundRect">
            <a:avLst>
              <a:gd name="adj" fmla="val 1563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42032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“네가 한다: 데이터 탐색, 코드 구현, 실험 실행, 결과 정리, 선택지와 근거 제시”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“판단이 필요한 지점에서는 멈추고 나에게 묻는다. 선택지 2~3개와 각각의 장단점을</a:t>
            </a:r>
            <a:br/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제시하고, 추천이 있으면 이유와 함께 밝힌다. 조용히 하나를 골라 진행하지 않는다.”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“내 지시가 틀렸다고 생각하면 반대 의견임을 명시하고 근거를 댄다.</a:t>
            </a:r>
            <a:br/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따르지 않는다.”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“숫자는 실행 결과에서만 가져온다. 추정치를 결과처럼 쓰지 않는다.</a:t>
            </a:r>
            <a:br/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결과를 적을 때는 어떤 스크립트·어떤 설정에서 나온 값인지 함께 적는다.”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“오류 기록: 네 코드나 판단이 틀렸던 경우,</a:t>
            </a:r>
            <a:br/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누가(나/너) 어떻게 발견했고 무엇을 바꿨는지. 틀린 것을 숨기지 말고 반드시 남긴다.”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700"/>
              </a:spcAft>
              <a:buNone/>
            </a:pPr>
            <a:r>
              <a:rPr lang="ko-KR" sz="12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“각 체크포인트(★)에서는 반드시 멈추고 나에게 보고한 뒤 지시를 기다린다.”</a:t>
            </a:r>
            <a:endParaRPr lang="ko-KR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486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 지시 (채팅 원문)</a:t>
            </a:r>
            <a:endParaRPr lang="ko-KR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5760720"/>
          <a:ext cx="5486400" cy="914400"/>
        </p:xfrm>
        <a:graphic>
          <a:graphicData uri="http://schemas.openxmlformats.org/drawingml/2006/table">
            <a:tbl>
              <a:tblPr/>
              <a:tblGrid>
                <a:gridCol w="3520440"/>
                <a:gridCol w="1965960"/>
              </a:tblGrid>
              <a:tr h="237744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“내가 100프로 만족할 수 있게 나에게 질문하면서 진행해”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첫 지시.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체크포인트마다 멈추게 한 근거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“대시보드의 문체를 다른 사이트를 참고해서 바꿔줘 너무 ai틱해”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산출물 반려. 참고 사례를</a:t>
                      </a:r>
                      <a:br/>
                      <a:pPr latinLnBrk="0" indent="0" marL="0">
                        <a:buNone/>
                      </a:pPr>
                      <a:r>
                        <a:rPr lang="ko-KR" sz="110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조사한 뒤 문구를 다시 씀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400800" y="210312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흐름</a:t>
            </a:r>
            <a:endParaRPr lang="ko-KR" sz="1300" dirty="0"/>
          </a:p>
        </p:txBody>
      </p:sp>
      <p:sp>
        <p:nvSpPr>
          <p:cNvPr id="14" name="Shape 11"/>
          <p:cNvSpPr/>
          <p:nvPr/>
        </p:nvSpPr>
        <p:spPr>
          <a:xfrm>
            <a:off x="6400800" y="2423160"/>
            <a:ext cx="5148072" cy="365760"/>
          </a:xfrm>
          <a:prstGeom prst="roundRect">
            <a:avLst>
              <a:gd name="adj" fmla="val 12500"/>
            </a:avLst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37960" y="2423160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  </a:t>
            </a:r>
            <a:pPr latinLnBrk="0" indent="0" marL="0">
              <a:buNone/>
            </a:pPr>
            <a:r>
              <a:rPr lang="ko-KR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· 성공 기준 · 지시문 작성</a:t>
            </a:r>
            <a:endParaRPr lang="ko-KR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837676" y="276148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ct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ko-KR" sz="1000" dirty="0"/>
          </a:p>
        </p:txBody>
      </p:sp>
      <p:sp>
        <p:nvSpPr>
          <p:cNvPr id="17" name="Shape 14"/>
          <p:cNvSpPr/>
          <p:nvPr/>
        </p:nvSpPr>
        <p:spPr>
          <a:xfrm>
            <a:off x="6400800" y="2898648"/>
            <a:ext cx="5148072" cy="365760"/>
          </a:xfrm>
          <a:prstGeom prst="roundRect">
            <a:avLst>
              <a:gd name="adj" fmla="val 12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37960" y="2898648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  </a:t>
            </a:r>
            <a:pPr latinLnBrk="0" indent="0" marL="0"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· 실험 · 선택지와 근거 제시</a:t>
            </a:r>
            <a:endParaRPr lang="ko-KR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837676" y="3236976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ct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ko-KR" sz="1000" dirty="0"/>
          </a:p>
        </p:txBody>
      </p:sp>
      <p:sp>
        <p:nvSpPr>
          <p:cNvPr id="20" name="Shape 17"/>
          <p:cNvSpPr/>
          <p:nvPr/>
        </p:nvSpPr>
        <p:spPr>
          <a:xfrm>
            <a:off x="6400800" y="3374136"/>
            <a:ext cx="5148072" cy="365760"/>
          </a:xfrm>
          <a:prstGeom prst="roundRect">
            <a:avLst>
              <a:gd name="adj" fmla="val 12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37960" y="3374136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에이전트 (별도 세션)   </a:t>
            </a:r>
            <a:pPr latinLnBrk="0" indent="0" marL="0">
              <a:buNone/>
            </a:pPr>
            <a:r>
              <a:rPr lang="ko-KR" sz="12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재계산 · 반박 · 개입 실험</a:t>
            </a:r>
            <a:endParaRPr lang="ko-KR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837676" y="371246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ct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ko-KR" sz="1000" dirty="0"/>
          </a:p>
        </p:txBody>
      </p:sp>
      <p:sp>
        <p:nvSpPr>
          <p:cNvPr id="23" name="Shape 20"/>
          <p:cNvSpPr/>
          <p:nvPr/>
        </p:nvSpPr>
        <p:spPr>
          <a:xfrm>
            <a:off x="6400800" y="3849624"/>
            <a:ext cx="5148072" cy="365760"/>
          </a:xfrm>
          <a:prstGeom prst="roundRect">
            <a:avLst>
              <a:gd name="adj" fmla="val 12500"/>
            </a:avLst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37960" y="3849624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  </a:t>
            </a:r>
            <a:pPr latinLnBrk="0" indent="0" marL="0">
              <a:buNone/>
            </a:pPr>
            <a:r>
              <a:rPr lang="ko-KR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체크포인트에서 판단 · 채택/폐기 · 기록</a:t>
            </a:r>
            <a:endParaRPr lang="ko-KR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0" y="429768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15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체크포인트 6개 · 판단 13건 · 검증 워크플로 10회(에이전트 45개) · 오류 15건 기록</a:t>
            </a:r>
            <a:endParaRPr lang="ko-KR" sz="11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590288"/>
          <a:ext cx="51480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17320"/>
                <a:gridCol w="2542032"/>
              </a:tblGrid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판단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 없는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638,507장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제외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불량 0개 맵이 5.8만 장 등 분포가 다르고,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평가 맵의 복사본 5,408장이 섞여 있음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성공 기준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 0.80 +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패턴 recall 0.50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선행연구의 lot 분할 0.85는 재검사 복사본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누수 가능성이 크고, 라벨 노이즈도 있음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분할 오류 대응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절차 수정 후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전부 재학습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닮은 맵 묶음 규칙은 유지하고 fold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배정만 무작위로. 이전 결과는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0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'편향된 분할'로 표시해 남김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방식 ②  검증과 오류 적발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구현한 AI와 별개의 검증 에이전트 45개를 10회 돌려 AI가 낸 오류 15건 중 7건을 잡았고,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나머지 8건은 실행 전 검토와 커밋 전 대조 규칙에서 나왔습니다.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LOG.md 오류 기록 E1~E15와 각 워크플로 결과 항목(15:11, 15:57, 16:55, 17:02, 17:39, 18:33, 20:57, 21:18, 23:0x, 00:03)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8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낸 오류를 잡은 사례</a:t>
            </a:r>
            <a:endParaRPr lang="ko-KR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95728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1554480"/>
              </a:tblGrid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어떻게 드러났나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E10 잘못된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원인 가설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AI가 세운 가설(라벨이 다른 재검사 쌍의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역누수)을 AI가 짠 진단 스크립트가 반증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가설 철회, 원인 조사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워크플로로 전환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E11 분할 절차 오류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반박 검증 에이전트가 scikit-learn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소스와 개입 실험으로 확인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절차 수정,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모델 재학습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E13 확률 열 버그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검증 에이전트가 예측 파일로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보정 결과를 재현하다 발견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로직 수정 후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재평가, 지표 변화 없음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40080" y="44348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 반려</a:t>
            </a:r>
            <a:endParaRPr lang="ko-KR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727448"/>
          <a:ext cx="5577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103120"/>
              </a:tblGrid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산출물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조치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문구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AI가 쓴 티: 한다체 설명문,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이모지, 내부 실행 이름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수율 도구·ML 리포트·UX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라이팅 관례 조사 후 재작성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포트폴리오 1차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과밀, 반말 서술 제목,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쪽별 주장 파악 안 됨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실제 국내 덱 6건 조사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8쪽으로 재구성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00800" y="210312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검증·조사 워크플로 10회 (에이전트 45개)</a:t>
            </a:r>
            <a:endParaRPr lang="ko-KR" sz="13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395728"/>
          <a:ext cx="51480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2633472"/>
              </a:tblGrid>
              <a:tr h="34747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에이전트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일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확보·문헌 조사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조사 5 + 반박 검증 5. 오류 E1~E4 발견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이상점 탐색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탐색 4 + 검증. 부분 정정 7건(E7)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베이스라인·분할 재계산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재계산, 독립 재구현, 코드 감사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Loc recall 원인 조사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원인 추적·구성 점검·반박 → E11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CNN 검증 2회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재계산, 짝비교,</a:t>
                      </a:r>
                      <a:br/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지름길, 이중맹검 → E13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문체·포트폴리오 조사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문구 4, 포트폴리오 3 + 3</a:t>
                      </a:r>
                      <a:endParaRPr lang="ko-KR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5029200"/>
          <a:ext cx="51480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33672"/>
              </a:tblGrid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구현한 에이전트와 검증하는 에이전트를 분리. 검증 쪽에는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원본 코드 대신 데이터와 결과 파일만 주고 다시 계산하게 함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 8건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전 자체 검토, 그림·표를 직접 열어 확인, 커밋 전 grep 대조,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52514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내보내기 후 pdffonts 점검에서 발견(E5·E6·E8·E9·E12·E14·E15)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결론·한계·재현 정보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 결과는 같은 제품의 새 lot에 대한 1차 분류 보조 수준입니다.</a:t>
            </a:r>
            <a:br/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수율 개선이나 공정 원인 규명 효과는 주장하지 않습니다.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8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ko-K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460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누수를 막은 평가에서 CNN 0.909,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베이스라인 0.843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하나로 Loc recall이 12%p 달라짐.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모델을 고르기 전에 평가 방식부터 확인해야 함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5종 통과, 새 폴더 재현 일치</a:t>
            </a:r>
            <a:endParaRPr lang="ko-KR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한계·다음 단계</a:t>
            </a:r>
            <a:endParaRPr lang="ko-KR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251460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나눈 분할의 결과.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seed 10개로 나눠 평균하면 약 0.01 낮음 →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그룹 5-fold로 전체 평가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Near-full test 18장, 신뢰구간 0.70–1.00 →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 확보 전까지 수치 유보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맵 다른 라벨 14쌍,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6~10다이 짧은 Scratch 약점 →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라벨 기준 재정의, 고해상도 입력</a:t>
            </a:r>
            <a:endParaRPr lang="ko-KR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배운 점</a:t>
            </a:r>
            <a:endParaRPr lang="ko-KR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51460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스크립트 실행 결과에서만 옮긴다.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추정치는 쓰지 않는다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점수가 갑자기 오르면 원인을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 전까지 채택하지 않는다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데이터를 받으면 모델을 만들기 전에</a:t>
            </a:r>
            <a:br/>
            <a:pPr latinLnBrk="0" indent="0" marL="0">
              <a:lnSpc>
                <a:spcPts val="1900"/>
              </a:lnSpc>
              <a:spcAft>
                <a:spcPts val="600"/>
              </a:spcAft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방식과 라벨 품질부터 검사한다</a:t>
            </a:r>
            <a:endParaRPr lang="ko-KR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93776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재현 정보</a:t>
            </a:r>
            <a:endParaRPr lang="ko-KR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5349240"/>
          <a:ext cx="1054577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9814255"/>
              </a:tblGrid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Windows 11, Python 3.12.6, torch 2.7.1+cu118, scikit-learn 1.9.1, Quadro P2000. 시드 0 고정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scripts/run_all.py  (데이터 다운로드 → 분할 → 베이스라인 → CNN → 평가, 약 4~5시간). 결과 outputs/*.json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github.com/sl2ver/wm811k-wafer-defect-classification (MIT).</a:t>
                      </a:r>
                      <a:br/>
                      <a:pPr latinLnBrk="0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PLAN.md 계획·변경 이력 / LOG.md 지시 원문·판단 13건·오류 15건 / RESULT.md 수치·버린 것 9·한계 9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54864" marT="36576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3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웨이퍼 맵 불량 패턴 분류</dc:title>
  <dc:subject>PptxGenJS Presentation</dc:subject>
  <dc:creator>이진성</dc:creator>
  <cp:lastModifiedBy>이진성</cp:lastModifiedBy>
  <cp:revision>1</cp:revision>
  <dcterms:created xsi:type="dcterms:W3CDTF">2026-09-27T16:16:03Z</dcterms:created>
  <dcterms:modified xsi:type="dcterms:W3CDTF">2026-09-27T16:16:03Z</dcterms:modified>
</cp:coreProperties>
</file>