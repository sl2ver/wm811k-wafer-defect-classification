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40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웨이퍼 맵 불량 패턴 분류</a:t>
            </a:r>
            <a:endParaRPr lang="ko-KR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20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lot 단위로 나눈 평가에서 macro-F1 0.909를 확인한 소형 CNN</a:t>
            </a:r>
            <a:endParaRPr lang="ko-KR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4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WM-811K 공개 데이터  |  개인 프로젝트  |  2026. 9.</a:t>
            </a:r>
            <a:endParaRPr lang="ko-KR" sz="1400" dirty="0"/>
          </a:p>
        </p:txBody>
      </p:sp>
      <p:pic>
        <p:nvPicPr>
          <p:cNvPr id="5" name="Image 0" descr="fig/p1_wafer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1088136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6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이진성</a:t>
            </a:r>
            <a:endParaRPr lang="ko-KR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3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서울과학기술대학교 전기정보공학과 석사과정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학습에 쓰지 않은 lot에서 macro-F1 0.909를 확인했습니다. 평가 방식을 먼저 고치고, 결과를 다섯 가지 방법으로 검증했습니다.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7</a:t>
            </a:r>
            <a:endParaRPr lang="ko-KR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6400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257800"/>
              </a:tblGrid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기간·형태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2026년 9월, 개인 프로젝트(1인)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WM-811K 웨이퍼 맵 811,457장 중 라벨 있는 172,950장, 불량 패턴 9종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웨이퍼의 복사본이 학습과 평가에 섞이는 누수를 막고, 새 lot에서의 성능을 재기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macro-F1 0.843(베이스라인) → 0.909(CNN), 모든 패턴 recall 0.77 이상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 정의·평가 설계·판단·검증: 본인  /  코드 구현·실험·문헌 조사: Claude Code(AI 코딩 도구)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 3.12, PyTorch 2.7(CUDA 11.8), scikit-learn 1.9.1, Streamlit, Quadro P2000</a:t>
                      </a:r>
                      <a:endParaRPr lang="ko-KR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40664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2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ko-KR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251460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43800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탐색과 누수 확인</a:t>
            </a:r>
            <a:endParaRPr lang="ko-KR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74420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3쪽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306324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4380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설계: lot 단위 분할, 성공 기준</a:t>
            </a:r>
            <a:endParaRPr lang="ko-KR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74420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3쪽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7406640" y="361188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4380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베이스라인과 소형 CNN</a:t>
            </a:r>
            <a:endParaRPr lang="ko-KR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74420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4쪽</a:t>
            </a:r>
            <a:endParaRPr lang="ko-KR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416052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4380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다섯 가지와 오류 수정</a:t>
            </a:r>
            <a:endParaRPr lang="ko-KR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74420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5쪽</a:t>
            </a:r>
            <a:endParaRPr lang="ko-KR" sz="1200" dirty="0"/>
          </a:p>
        </p:txBody>
      </p:sp>
      <p:sp>
        <p:nvSpPr>
          <p:cNvPr id="21" name="Shape 18"/>
          <p:cNvSpPr/>
          <p:nvPr/>
        </p:nvSpPr>
        <p:spPr>
          <a:xfrm>
            <a:off x="7406640" y="470916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 방식</a:t>
            </a:r>
            <a:endParaRPr lang="ko-KR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744200" y="4709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6쪽</a:t>
            </a:r>
            <a:endParaRPr lang="ko-KR" sz="1200" dirty="0"/>
          </a:p>
        </p:txBody>
      </p:sp>
      <p:sp>
        <p:nvSpPr>
          <p:cNvPr id="24" name="Shape 21"/>
          <p:cNvSpPr/>
          <p:nvPr/>
        </p:nvSpPr>
        <p:spPr>
          <a:xfrm>
            <a:off x="7406640" y="5257800"/>
            <a:ext cx="4142232" cy="457200"/>
          </a:xfrm>
          <a:prstGeom prst="roundRect">
            <a:avLst>
              <a:gd name="adj" fmla="val 12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43800" y="5257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1F4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 </a:t>
            </a:r>
            <a:pPr latinLnBrk="0" indent="0" marL="0">
              <a:buNone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결론·한계·재현 정보</a:t>
            </a:r>
            <a:endParaRPr lang="ko-KR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744200" y="5257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7쪽</a:t>
            </a:r>
            <a:endParaRPr lang="ko-KR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2578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lot  </a:t>
            </a:r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공정 조건으로 함께 처리한 웨이퍼 묶음(최대 25장). 한 lot의 맵은 서로 닮아서 분할의 기본 단위로 씀</a:t>
            </a:r>
            <a:endParaRPr lang="ko-KR" sz="1200" dirty="0"/>
          </a:p>
          <a:p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macro-F1  </a:t>
            </a:r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9종 F1의 단순 평균. 85%를 차지하는 none에 점수가 치우치지 않음</a:t>
            </a:r>
            <a:endParaRPr lang="ko-KR" sz="1200" dirty="0"/>
          </a:p>
          <a:p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recall  </a:t>
            </a:r>
            <a:pPr latinLnBrk="0" indent="0" marL="0">
              <a:lnSpc>
                <a:spcPts val="1700"/>
              </a:lnSpc>
              <a:spcAft>
                <a:spcPts val="300"/>
              </a:spcAft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그 패턴인 웨이퍼 중 맞힌 비율</a:t>
            </a:r>
            <a:endParaRPr lang="ko-KR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정의: 데이터와 평가 방식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분할과 무작위 분할은 같은 웨이퍼의 복사본이 학습과 평가 양쪽에 들어가 점수가 부풀려집니다. 그래서 lot과 복사본을 한 묶음으로 나눴습니다.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scripts/explore_data.py, scripts/make_splits.py → outputs/eda/summary.json, outputs/splits/split_summary.json</a:t>
            </a:r>
            <a:endParaRPr lang="ko-K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7</a:t>
            </a:r>
            <a:endParaRPr lang="ko-KR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4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3겹</a:t>
            </a:r>
            <a:endParaRPr lang="ko-KR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160520"/>
              </a:tblGrid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분할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test 3,158장이 train의 복사본. 같은 맵에 다른 라벨이 붙은 쌍 14개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lot 단위 분할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재검사로 생긴 거의 같은 맵이 양쪽에 남음(Center 패턴은 40.7%)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반전·회전 복사본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뒤집거나 돌린 복사본도 있어 8가지 변환을 모두 비교해서 묶음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4069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있는 172,950장 사용. none 85.2%, Near-full 149장(0.09%)으로 불균형</a:t>
            </a:r>
            <a:endParaRPr lang="ko-KR" sz="1350" dirty="0"/>
          </a:p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채택한 분할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lot + 10픽셀 이내 복사본(반전·회전 포함)을 한 묶음으로 70 / 15 / 15</a:t>
            </a:r>
            <a:endParaRPr lang="ko-KR" sz="1350" dirty="0"/>
          </a:p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macro-F1 0.80 이상, 모든 패턴 recall 0.50 이상, 베이스라인 초과. 신뢰구간 병기</a:t>
            </a:r>
            <a:endParaRPr lang="ko-KR" sz="1350" dirty="0"/>
          </a:p>
        </p:txBody>
      </p:sp>
      <p:pic>
        <p:nvPicPr>
          <p:cNvPr id="11" name="Image 0" descr="fig/p3_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48840"/>
            <a:ext cx="5120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방법과 결과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데이터·같은 분할·같은 test 25,444장에서 소형 CNN이 베이스라인보다 macro-F1 0.066 높았고, Loc·Scratch recall이 가장 크게 올랐습니다.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scripts/baseline.py, train_cnn.py, evaluate_cnn.py → outputs/baseline/results.json, outputs/cnn/results.json. 신뢰구간은 연결 성분 부트스트랩 1,000회</a:t>
            </a:r>
            <a:endParaRPr lang="ko-K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7</a:t>
            </a:r>
            <a:endParaRPr lang="ko-KR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91640"/>
                <a:gridCol w="1143000"/>
              </a:tblGrid>
              <a:tr h="38404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macro-F1 (95% CI)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최저 recall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베이스라인: 특징 23개 + 랜덤 포레스트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0.843 (0.820–0.858)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0.497 (Loc)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 CNN, CE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0.901 (0.863–0.918)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0.763 (Loc)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 CNN, CE + val 보정 (최종)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0.909 (0.885–0.922)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0.775 (Loc)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97764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64×64로 축소. 축소할 때 블록 최대값을 써서 1다이 폭 Scratch를 남김. 반전·회전 8종 증강</a:t>
            </a:r>
            <a:endParaRPr lang="ko-KR" sz="1350" dirty="0"/>
          </a:p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합성곱 블록 4개, 파라미터 58만, CE 20 epoch(GPU 40분). 패턴별 점수 보정값은 val에서만 정함</a:t>
            </a:r>
            <a:endParaRPr lang="ko-KR" sz="1350" dirty="0"/>
          </a:p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없던 시도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class-weighted CE: macro-F1 0.825, none 오탐 증가 → 미채택</a:t>
            </a:r>
            <a:endParaRPr lang="ko-KR" sz="1350" dirty="0"/>
          </a:p>
          <a:p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 </a:t>
            </a:r>
            <a:pPr latinLnBrk="0"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ko-KR" sz="13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엔지니어가 어떤 웨이퍼를 먼저 볼지 정하는 1차 분류 보조. 자동 폐기 판정에는 부적합</a:t>
            </a:r>
            <a:endParaRPr lang="ko-KR" sz="1350" dirty="0"/>
          </a:p>
        </p:txBody>
      </p:sp>
      <p:pic>
        <p:nvPicPr>
          <p:cNvPr id="10" name="Image 0" descr="fig/p4_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48840"/>
            <a:ext cx="5120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검증과 오류 수정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점수가 예상보다 높게 나온 이유를 확인하려고 다섯 가지를 검증했고, 그 과정에서 분할 절차의 오류 하나를 찾아 고쳤습니다.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outputs/splits/split_seed_variance.json, outputs/cnn/outline_intervention.json, scripts/compare_reproduction.py, LOG.md 오류 기록 E11</a:t>
            </a:r>
            <a:endParaRPr lang="ko-K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7</a:t>
            </a:r>
            <a:endParaRPr lang="ko-KR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06040"/>
                <a:gridCol w="2103120"/>
              </a:tblGrid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우연 수준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라벨을 섞어 같은 CNN 학습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macro-F1 0.102 (우연 수준)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누수 제거 효과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무작위 분할 vs lot 분할, 같은 모델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0.895 vs 0.909, 차이 없음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지름길 학습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25×27 제품 외곽선을 다른 제품 것으로 교체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99.5% 이상 유지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오분류 검토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96장을 라벨 가린 채 독립 판정 2회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애매 46% / 모델 오류 27% / 라벨 의심 27%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재현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새 폴더에 clone 후 README 순서로 재실행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1시간 8분, 비교 항목 10개 일치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fig/p5_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03120"/>
            <a:ext cx="4361688" cy="23774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1228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절차 오류 (LOG E11)</a:t>
            </a:r>
            <a:endParaRPr lang="ko-KR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482803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scikit-learn 1.9.1 StratifiedGroupKFold가 크고 치우친 그룹을 seed와 무관하게 같은 fold에 배정. 맞히기 쉬운 Loc 웨이퍼 132장(28개 lot)이 항상 test에 들어감</a:t>
            </a:r>
            <a:endParaRPr lang="ko-KR" sz="1150" dirty="0"/>
          </a:p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규칙을 바꾼 뒤 베이스라인 점수가 이유 없이 오름 → seed 10개로 다시 나눔(Loc recall 최대 15%p 차이) → lot 묶음 하나만 test에서 빼 보는 실험</a:t>
            </a:r>
            <a:endParaRPr lang="ko-KR" sz="1150" dirty="0"/>
          </a:p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fold와 분할의 대응을 seed로 무작위 치환하고 모든 모델 재학습(0.893 → 0.909). 분할 직후 train–test 겹침과 lot 묶음 비중을 검사하는 단계 추가</a:t>
            </a:r>
            <a:endParaRPr lang="ko-KR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 방식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정의와 기준, 최종 판단은 제가 내리고 구현과 실험은 Claude Code에 맡겼습니다. 결과는 제가 정한 절차로 검증했습니다.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LOG.md 판단 지점 1~13, 오류 기록 E1~E15, docs/wafer_project_prompt.md</a:t>
            </a:r>
            <a:endParaRPr lang="ko-K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7</a:t>
            </a:r>
            <a:endParaRPr lang="ko-KR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0292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886200"/>
              </a:tblGrid>
              <a:tr h="56692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본인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 정의, 정제·분할 규칙, 성공 기준, 모델 채택·폐기, 최종 수치 채택, 오류 판정 (판단 13건)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구현, 실험 실행, 문헌·도구 조사, 독립 에이전트의 반박 검증 (오류 15건 중 7건 발견)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규칙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20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단계마다 멈춰 선택지 2~3개와 근거 제시 / 수치는 실행 결과만, 스크립트 명시 / 오류는 발견자·경위·조치까지 기록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 원문</a:t>
            </a:r>
            <a:endParaRPr lang="ko-KR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480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ko-KR" sz="12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“내가 100프로 만족할 수 있게 나에게 질문하면서 진행해”  </a:t>
            </a:r>
            <a:pPr latinLnBrk="0"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첫 지시. 체크포인트마다 멈추게 한 근거</a:t>
            </a:r>
            <a:endParaRPr lang="ko-KR" sz="1200" dirty="0"/>
          </a:p>
          <a:p>
            <a:pPr latinLnBrk="0"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ko-KR" sz="120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“대시보드의 문체를 다른 사이트를 참고해서 바꿔줘 너무 ai틱해”  </a:t>
            </a:r>
            <a:pPr latinLnBrk="0"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ko-KR" sz="120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산출물 반려. 참고 사례를 조사한 뒤 문구를 다시 씀</a:t>
            </a:r>
            <a:endParaRPr lang="ko-KR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852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ko-KR" sz="1150" b="1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 </a:t>
            </a:r>
            <a:pPr latinLnBrk="0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ko-KR" sz="1150" dirty="0">
                <a:solidFill>
                  <a:srgbClr val="525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 원문·판단·오류 → LOG.md / 계획과 변경 이력 → PLAN.md / 수치·버린 것·한계 → RESULT.md</a:t>
            </a:r>
            <a:endParaRPr lang="ko-KR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48840"/>
          <a:ext cx="56052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2679192"/>
              </a:tblGrid>
              <a:tr h="64008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b="1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라벨 없는 638,507장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제외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 0개 맵이 5.8만 장 등 분포가 다르고, 평가 맵의 복사본 5,408장이 섞여 있음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성공 기준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macro-F1 0.80 + 전 패턴 recall 0.50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선행연구의 lot 분할 0.85는 재검사 복사본 누수 가능성이 크고, 같은 맵의 라벨이 갈리는 노이즈가 있음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불균형 처리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 손실 대신 val 사후 보정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test에서 비교: weighted CE 0.825 &lt; CE 0.901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 오류 대응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절차 수정 후 전부 재학습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0" algn="l" indent="0" marL="0">
                        <a:buNone/>
                      </a:pPr>
                      <a:r>
                        <a:rPr lang="ko-KR" sz="1150" dirty="0">
                          <a:solidFill>
                            <a:srgbClr val="0B0B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닮은 맵 묶음 규칙은 유지하고 fold 배정만 무작위로 바꿈. 이전 결과는 '편향된 분할의 결과'로 표시해 남김</a:t>
                      </a:r>
                      <a:endParaRPr lang="ko-KR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ko-KR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225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sz="28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결론·한계·재현 정보</a:t>
            </a:r>
            <a:endParaRPr lang="ko-KR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2600"/>
              </a:lnSpc>
              <a:buNone/>
            </a:pPr>
            <a:r>
              <a:rPr lang="ko-KR" sz="1800" dirty="0">
                <a:solidFill>
                  <a:srgbClr val="1F4E9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결과는 같은 제품의 새 lot에 대한 1차 분류 보조 수준입니다. 수율 개선이나 공정 원인 규명 효과는 주장하지 않습니다.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algn="r" indent="0" marL="0">
              <a:buNone/>
            </a:pPr>
            <a:r>
              <a:rPr lang="ko-KR" sz="1000" dirty="0">
                <a:solidFill>
                  <a:srgbClr val="8F8E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7</a:t>
            </a:r>
            <a:endParaRPr lang="ko-K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5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ko-K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누수를 막은 평가에서 CNN 0.909, 베이스라인 0.843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절차 하나로 Loc recall이 12%p 달라짐. 모델을 고르기 전에 평가 방식부터 확인해야 함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5종 통과, 새 폴더 재현 일치</a:t>
            </a:r>
            <a:endParaRPr lang="ko-KR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148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5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한계·다음 단계</a:t>
            </a:r>
            <a:endParaRPr lang="ko-K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5146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나눈 분할의 결과. seed 10개로 나눠 평균하면 약 0.01 낮음 → 그룹 5-fold로 전체 평가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Near-full test 18장, 신뢰구간 0.70–1.00 → 표본 확보 전까지 수치 유보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맵 다른 라벨 14쌍, 6~10다이 짧은 Scratch 약점 → 라벨 기준 재정의, 고해상도 입력</a:t>
            </a:r>
            <a:endParaRPr lang="ko-KR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148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5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점</a:t>
            </a:r>
            <a:endParaRPr lang="ko-KR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스크립트 실행 결과에서만 옮긴다. 추정치는 쓰지 않는다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점수가 갑자기 오르면 원인을 찾기 전까지 채택하지 않는다</a:t>
            </a:r>
            <a:endParaRPr lang="ko-KR" sz="1300" dirty="0"/>
          </a:p>
          <a:p>
            <a:pPr latinLnBrk="0" marL="177800" indent="-1778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ko-KR" sz="130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데이터를 받으면 모델을 만들기 전에 분할 방식과 라벨 품질부터 검사한다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F3F3F1"/>
          </a:solidFill>
          <a:ln w="12700">
            <a:solidFill>
              <a:srgbClr val="F3F3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sz="130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정보</a:t>
            </a:r>
            <a:endParaRPr lang="ko-KR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 11, Python 3.12.6, torch 2.7.1+cu118, scikit-learn 1.9.1, Quadro P2000. 시드 0 고정</a:t>
            </a:r>
            <a:endParaRPr lang="ko-KR" sz="1150" dirty="0"/>
          </a:p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scripts/run_all.py  (데이터 다운로드 → 분할 → 베이스라인 → CNN → 평가, 약 4~5시간). 결과 outputs/*.json</a:t>
            </a:r>
            <a:endParaRPr lang="ko-KR" sz="1150" dirty="0"/>
          </a:p>
          <a:p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b="1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 </a:t>
            </a:r>
            <a:pPr latinLnBrk="0" indent="0" marL="0">
              <a:lnSpc>
                <a:spcPts val="1600"/>
              </a:lnSpc>
              <a:spcAft>
                <a:spcPts val="300"/>
              </a:spcAft>
              <a:buNone/>
            </a:pPr>
            <a:r>
              <a:rPr lang="ko-KR" sz="1150" dirty="0">
                <a:solidFill>
                  <a:srgbClr val="0B0B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github.com/sl2ver/wm811k-wafer-defect-classification (MIT)  ·  PLAN.md 계획·변경 이력 / LOG.md 지시 원문·판단 13건·오류 15건 / RESULT.md 수치·버린 것 9·한계 9</a:t>
            </a:r>
            <a:endParaRPr lang="ko-KR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웨이퍼 맵 불량 패턴 분류</dc:title>
  <dc:subject>PptxGenJS Presentation</dc:subject>
  <dc:creator>이진성</dc:creator>
  <cp:lastModifiedBy>이진성</cp:lastModifiedBy>
  <cp:revision>1</cp:revision>
  <dcterms:created xsi:type="dcterms:W3CDTF">2026-09-27T15:50:56Z</dcterms:created>
  <dcterms:modified xsi:type="dcterms:W3CDTF">2026-09-27T15:50:56Z</dcterms:modified>
</cp:coreProperties>
</file>