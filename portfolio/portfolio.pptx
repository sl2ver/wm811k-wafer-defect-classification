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3800"/>
              </a:lnSpc>
              <a:buNone/>
            </a:pPr>
            <a:r>
              <a:rPr lang="ko-KR" sz="30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웨이퍼 맵 결함 패턴 분류:</a:t>
            </a:r>
            <a:endParaRPr lang="ko-KR" sz="3000" dirty="0"/>
          </a:p>
          <a:p>
            <a:pPr latinLnBrk="0" algn="l" indent="0" marL="0">
              <a:lnSpc>
                <a:spcPts val="3800"/>
              </a:lnSpc>
              <a:buNone/>
            </a:pPr>
            <a:r>
              <a:rPr lang="ko-KR" sz="30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누수 없는 평가에서 macro-F1 0.843 → 0.909</a:t>
            </a:r>
            <a:endParaRPr lang="ko-KR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12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2026.09.27  24시간 개인 해커톤(7시간 40분 사용)  ·  판단 13건과 전 과정 검증: 본인 / 코드 구현·실험·조사: Claude Code  ·  새 환경 재현 일치</a:t>
            </a:r>
            <a:endParaRPr lang="ko-KR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22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이진성</a:t>
            </a:r>
            <a:endParaRPr lang="ko-KR" sz="2200" dirty="0"/>
          </a:p>
          <a:p>
            <a:pPr latinLnBrk="0" algn="l" indent="0" marL="0">
              <a:spcBef>
                <a:spcPts val="400"/>
              </a:spcBef>
              <a:buNone/>
            </a:pPr>
            <a:r>
              <a:rPr lang="ko-KR" sz="120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서울과학기술대학교 전기정보공학과 석사과정  ·  RF/EMC 계측</a:t>
            </a:r>
            <a:endParaRPr lang="ko-KR" sz="2200" dirty="0"/>
          </a:p>
          <a:p>
            <a:pPr latinLnBrk="0"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ko-KR" sz="12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계측 데이터를 다루던 습관(수치는 측정에서만, 결과는 재현으로 확인)을 처음 만지는 반도체 제조 데이터에 그대로 적용해 본 24시간 연습</a:t>
            </a:r>
            <a:endParaRPr lang="ko-KR" sz="2200" dirty="0"/>
          </a:p>
        </p:txBody>
      </p:sp>
      <p:sp>
        <p:nvSpPr>
          <p:cNvPr id="5" name="Shape 3"/>
          <p:cNvSpPr/>
          <p:nvPr/>
        </p:nvSpPr>
        <p:spPr>
          <a:xfrm>
            <a:off x="6446520" y="2286000"/>
            <a:ext cx="1719072" cy="1417320"/>
          </a:xfrm>
          <a:prstGeom prst="roundRect">
            <a:avLst>
              <a:gd name="adj" fmla="val 387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74536" y="2377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24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0.909</a:t>
            </a:r>
            <a:endParaRPr lang="ko-KR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74536" y="2907792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1300"/>
              </a:lnSpc>
              <a:buNone/>
            </a:pPr>
            <a:r>
              <a:rPr lang="ko-KR" sz="9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macro-F1 (9클래스, test 25,444장)</a:t>
            </a:r>
            <a:endParaRPr lang="ko-KR" sz="950" dirty="0"/>
          </a:p>
          <a:p>
            <a:pPr latinLnBrk="0" algn="l" indent="0" marL="0">
              <a:lnSpc>
                <a:spcPts val="1300"/>
              </a:lnSpc>
              <a:buNone/>
            </a:pPr>
            <a:r>
              <a:rPr lang="ko-KR" sz="9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CI 0.885–0.922  ·  베이스라인 0.843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8275320" y="2286000"/>
            <a:ext cx="1719072" cy="1417320"/>
          </a:xfrm>
          <a:prstGeom prst="roundRect">
            <a:avLst>
              <a:gd name="adj" fmla="val 387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03336" y="2377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24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0.775</a:t>
            </a:r>
            <a:endParaRPr lang="ko-KR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8403336" y="2907792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1300"/>
              </a:lnSpc>
              <a:buNone/>
            </a:pPr>
            <a:r>
              <a:rPr lang="ko-KR" sz="9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낮은 클래스 recall (Loc)</a:t>
            </a:r>
            <a:endParaRPr lang="ko-KR" sz="950" dirty="0"/>
          </a:p>
          <a:p>
            <a:pPr latinLnBrk="0" algn="l" indent="0" marL="0">
              <a:lnSpc>
                <a:spcPts val="1300"/>
              </a:lnSpc>
              <a:buNone/>
            </a:pPr>
            <a:r>
              <a:rPr lang="ko-KR" sz="9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베이스라인 0.497 → 모든 클래스 0.50 이상</a:t>
            </a:r>
            <a:endParaRPr lang="ko-KR" sz="950" dirty="0"/>
          </a:p>
        </p:txBody>
      </p:sp>
      <p:sp>
        <p:nvSpPr>
          <p:cNvPr id="11" name="Shape 9"/>
          <p:cNvSpPr/>
          <p:nvPr/>
        </p:nvSpPr>
        <p:spPr>
          <a:xfrm>
            <a:off x="10104120" y="2286000"/>
            <a:ext cx="1719072" cy="1417320"/>
          </a:xfrm>
          <a:prstGeom prst="roundRect">
            <a:avLst>
              <a:gd name="adj" fmla="val 387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32136" y="2377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24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10</a:t>
            </a:r>
            <a:endParaRPr lang="ko-KR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0232136" y="2907792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1300"/>
              </a:lnSpc>
              <a:buNone/>
            </a:pPr>
            <a:r>
              <a:rPr lang="ko-KR" sz="9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폴더 재현에서 일치한 항목</a:t>
            </a:r>
            <a:endParaRPr lang="ko-KR" sz="950" dirty="0"/>
          </a:p>
          <a:p>
            <a:pPr latinLnBrk="0" algn="l" indent="0" marL="0">
              <a:lnSpc>
                <a:spcPts val="1300"/>
              </a:lnSpc>
              <a:buNone/>
            </a:pPr>
            <a:r>
              <a:rPr lang="ko-KR" sz="9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clone → 데이터 → 학습 → 평가, 1시간 8분</a:t>
            </a:r>
            <a:endParaRPr lang="ko-KR" sz="950" dirty="0"/>
          </a:p>
        </p:txBody>
      </p:sp>
      <p:pic>
        <p:nvPicPr>
          <p:cNvPr id="14" name="Image 0" descr="fig/p1_wafer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86200"/>
            <a:ext cx="11064240" cy="16002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48640" y="5513832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9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WM-811K 결함 패턴 9종 예시  ·  회색 = 정상 다이, 파란색 = 불량 다이  ·  라벨 있는 웨이퍼 172,950장 중 무작위 표본</a:t>
            </a:r>
            <a:endParaRPr lang="ko-KR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115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문서는 분류 성능을 검증한 결과이며, 수율 개선이나 공정 원인 규명 효과는 주장하지 않는다.</a:t>
            </a:r>
            <a:endParaRPr lang="ko-KR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1908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90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데이터: WM-811K (M.-J. Wu, J.-S. R. Jang, J.-L. Chen, IEEE Trans. Semicond. Manuf. 28(1), 2015; MIR Lab)  ·  코드·기록: github.com/sl2ver/wm811k-wafer-defect-classification</a:t>
            </a:r>
            <a:endParaRPr lang="ko-KR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9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5</a:t>
            </a:r>
            <a:endParaRPr lang="ko-K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3200"/>
              </a:lnSpc>
              <a:buNone/>
            </a:pPr>
            <a:r>
              <a:rPr lang="ko-KR" sz="26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Test의 3,158장은 Training의 복사본이었다 — lot과 쌍둥이 맵을 한 덩어리로 묶어 다시 나눴다</a:t>
            </a:r>
            <a:endParaRPr lang="ko-KR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12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WM-811K 811,457장  ·  라벨 172,950장(none 85%, Near-full 149장 = 989 : 1)  ·  정제 후 169,680장을 70 / 15 / 15로</a:t>
            </a:r>
            <a:endParaRPr lang="ko-KR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90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scripts/explore_data.py, scripts/make_splits.py 실행 결과 (outputs/eda/summary.json, outputs/splits/split_summary.json)</a:t>
            </a:r>
            <a:endParaRPr lang="ko-K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9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5</a:t>
            </a:r>
            <a:endParaRPr lang="ko-KR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45720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1800"/>
              </a:lnSpc>
              <a:buNone/>
            </a:pPr>
            <a:r>
              <a:rPr lang="ko-KR" sz="12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누수 1 · 복사본  </a:t>
            </a:r>
            <a:pPr latinLnBrk="0"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Training과 Test 사이에 픽셀까지 같은 맵 3,158장(Test의 2.7%). 그중 14쌍은 라벨도 서로 다름</a:t>
            </a:r>
            <a:endParaRPr lang="ko-KR" sz="1200" dirty="0"/>
          </a:p>
          <a:p>
            <a:pPr latinLnBrk="0" algn="l" indent="0" marL="0">
              <a:lnSpc>
                <a:spcPts val="1800"/>
              </a:lnSpc>
              <a:buNone/>
            </a:pPr>
            <a:r>
              <a:rPr lang="ko-KR" sz="12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누수 2 · 재기록 사본  </a:t>
            </a:r>
            <a:pPr latinLnBrk="0"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lot 단위로 나눠도 이웃 lot에 1~10픽셀만 다른 맵이 남음. test Center의 41%에 학습 쪽 사본</a:t>
            </a:r>
            <a:endParaRPr lang="ko-KR" sz="1200" dirty="0"/>
          </a:p>
          <a:p>
            <a:pPr latinLnBrk="0" algn="l" indent="0" marL="0">
              <a:lnSpc>
                <a:spcPts val="1800"/>
              </a:lnSpc>
              <a:buNone/>
            </a:pPr>
            <a:r>
              <a:rPr lang="ko-KR" sz="12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누수 3 · 변환·재검사 사본  </a:t>
            </a:r>
            <a:pPr latinLnBrk="0"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상하 반전·회전한 사본, 불량 다이만 늘어난 재검사본(11~66픽셀 차이)</a:t>
            </a:r>
            <a:endParaRPr lang="ko-KR" sz="1200" dirty="0"/>
          </a:p>
          <a:p>
            <a:pPr latinLnBrk="0" algn="l" indent="0" marL="0">
              <a:lnSpc>
                <a:spcPts val="1800"/>
              </a:lnSpc>
              <a:buNone/>
            </a:pPr>
            <a:r>
              <a:rPr lang="ko-KR" sz="12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 </a:t>
            </a:r>
            <a:pPr latinLnBrk="0"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충돌 14쌍·중복 3,238장·조각 맵 4장 제외. 반전·회전 8종 중 어느 것으로든 차이가 max(10, 불량 다이 10%) 이하면 쌍둥이로 보고, 쌍둥이로 이어진 lot을 한 덩어리로 묶어 분할 → train–test 겹침 0</a:t>
            </a:r>
            <a:endParaRPr lang="ko-KR" sz="1200" dirty="0"/>
          </a:p>
          <a:p>
            <a:pPr latinLnBrk="0" algn="l" indent="0" marL="0">
              <a:lnSpc>
                <a:spcPts val="1800"/>
              </a:lnSpc>
              <a:buNone/>
            </a:pPr>
            <a:r>
              <a:rPr lang="ko-KR" sz="12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 기준 (사전 확정)  </a:t>
            </a:r>
            <a:pPr latinLnBrk="0"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macro-F1 0.80 이상  ·  모든 클래스 recall 0.50 이상  ·  베이스라인 초과. 신뢰구간은 덩어리 단위 부트스트랩 1,000회</a:t>
            </a:r>
            <a:endParaRPr lang="ko-KR" sz="1200" dirty="0"/>
          </a:p>
        </p:txBody>
      </p:sp>
      <p:pic>
        <p:nvPicPr>
          <p:cNvPr id="7" name="Image 0" descr="fig/p2_leak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828800"/>
            <a:ext cx="65836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3200"/>
              </a:lnSpc>
              <a:buNone/>
            </a:pPr>
            <a:r>
              <a:rPr lang="ko-KR" sz="26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 23개 + 랜덤 포레스트 0.843 → 맵을 직접 보는 소형 CNN 0.909, Loc·Scratch에서 가장 크게 올랐다</a:t>
            </a:r>
            <a:endParaRPr lang="ko-KR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12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정제 데이터 · 같은 분할 · 같은 test 25,444장  ·  모델 선택은 val만으로  ·  대괄호는 95% 신뢰구간</a:t>
            </a:r>
            <a:endParaRPr lang="ko-KR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90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scripts/baseline.py, train_cnn.py, evaluate_cnn.py 실행 결과 (outputs/baseline/results.json, outputs/cnn/results.json)  ·  신뢰구간: 연결 성분 부트스트랩 1,000회</a:t>
            </a:r>
            <a:endParaRPr lang="ko-K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9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5</a:t>
            </a:r>
            <a:endParaRPr lang="ko-KR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46634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417320"/>
                <a:gridCol w="640080"/>
                <a:gridCol w="914400"/>
              </a:tblGrid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5251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5251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macro-F1 (9종)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5251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결함 8종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5251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최저 recall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베이스라인: 특징 23개 + RF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0.843 [0.820–0.858]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0.826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0.497 (Loc)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· CE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0.901 [0.863–0.918]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0.889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0.763 (Loc)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· CE + 보정 (최종)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0.909 [0.885–0.922]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0.899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0.775 (Loc)</a:t>
                      </a:r>
                      <a:endParaRPr lang="ko-KR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24612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1700"/>
              </a:lnSpc>
              <a:buNone/>
            </a:pPr>
            <a:r>
              <a:rPr lang="ko-KR" sz="115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 </a:t>
            </a:r>
            <a:pPr latinLnBrk="0" algn="l"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64×64 비등방 리사이즈, 축소 시 블록 최대값으로 1다이 폭 Scratch 보존  ·  반전·회전 8종 증강</a:t>
            </a:r>
            <a:endParaRPr lang="ko-KR" sz="1150" dirty="0"/>
          </a:p>
          <a:p>
            <a:pPr latinLnBrk="0" algn="l" indent="0" marL="0">
              <a:lnSpc>
                <a:spcPts val="1700"/>
              </a:lnSpc>
              <a:buNone/>
            </a:pPr>
            <a:r>
              <a:rPr lang="ko-KR" sz="115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 </a:t>
            </a:r>
            <a:pPr latinLnBrk="0" algn="l"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합성곱 블록 4개, 파라미터 58만, CE 20 epoch(GPU 40분)  ·  클래스별 bias는 val에서만 맞춤</a:t>
            </a:r>
            <a:endParaRPr lang="ko-KR" sz="1150" dirty="0"/>
          </a:p>
          <a:p>
            <a:pPr latinLnBrk="0" algn="l" indent="0" marL="0">
              <a:lnSpc>
                <a:spcPts val="1700"/>
              </a:lnSpc>
              <a:buNone/>
            </a:pPr>
            <a:r>
              <a:rPr lang="ko-KR" sz="115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시도  </a:t>
            </a:r>
            <a:pPr latinLnBrk="0" algn="l"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class-weighted CE: 0.825 (none 오탐 증가). 분할을 바꿔 두 번 확인해도 같은 결론</a:t>
            </a:r>
            <a:endParaRPr lang="ko-KR" sz="1150" dirty="0"/>
          </a:p>
          <a:p>
            <a:pPr latinLnBrk="0" algn="l" indent="0" marL="0">
              <a:lnSpc>
                <a:spcPts val="1700"/>
              </a:lnSpc>
              <a:buNone/>
            </a:pPr>
            <a:r>
              <a:rPr lang="ko-KR" sz="115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짝비교  </a:t>
            </a:r>
            <a:pPr latinLnBrk="0" algn="l"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test에서 CNN만 맞힘 513장 vs RF만 맞힘 177장 (정확 McNemar p ≈ 9e-39)</a:t>
            </a:r>
            <a:endParaRPr lang="ko-KR" sz="1150" dirty="0"/>
          </a:p>
          <a:p>
            <a:pPr latinLnBrk="0" algn="l" indent="0" marL="0">
              <a:lnSpc>
                <a:spcPts val="1700"/>
              </a:lnSpc>
              <a:buNone/>
            </a:pPr>
            <a:r>
              <a:rPr lang="ko-KR" sz="115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 · 한계  </a:t>
            </a:r>
            <a:pPr latinLnBrk="0" algn="l"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순서를 정하는 1차 분류 보조. 자동 폐기 판정에는 부적합. 평가 범위는 같은 제품의 새 lot(새 제품은 121장으로만 확인)</a:t>
            </a:r>
            <a:endParaRPr lang="ko-KR" sz="1150" dirty="0"/>
          </a:p>
        </p:txBody>
      </p:sp>
      <p:pic>
        <p:nvPicPr>
          <p:cNvPr id="8" name="Image 0" descr="fig/p3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828800"/>
            <a:ext cx="640080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3200"/>
              </a:lnSpc>
              <a:buNone/>
            </a:pPr>
            <a:r>
              <a:rPr lang="ko-KR" sz="26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결과를 의심했다 — 분할 절차가 Loc recall을 12%p 부풀린 것을 찾아 고쳤다</a:t>
            </a:r>
            <a:endParaRPr lang="ko-KR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12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순서: 영향 → 원인 → 왜 놓쳤나 → 발견과 수정 → 재발 방지  ·  아래 검증 5가지는 모두 스크립트 실행 결과</a:t>
            </a:r>
            <a:endParaRPr lang="ko-KR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90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outputs/splits/split_seed_variance.json, outputs/cnn/outline_intervention.json, scripts/compare_reproduction.py, LOG.md 17:39~21:05 항목</a:t>
            </a:r>
            <a:endParaRPr lang="ko-K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9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5</a:t>
            </a:r>
            <a:endParaRPr lang="ko-KR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6400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1800"/>
              </a:lnSpc>
              <a:buNone/>
            </a:pPr>
            <a:r>
              <a:rPr lang="ko-KR" sz="12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영향  </a:t>
            </a:r>
            <a:pPr latinLnBrk="0"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 전 test Loc recall CNN 0.82 · RF 0.62 → 수정 후 0.77 · 0.50. test Near-full의 81%도 덩어리 하나에서 나오고 있었음</a:t>
            </a:r>
            <a:endParaRPr lang="ko-KR" sz="1200" dirty="0"/>
          </a:p>
          <a:p>
            <a:pPr latinLnBrk="0" algn="l" indent="0" marL="0">
              <a:lnSpc>
                <a:spcPts val="1800"/>
              </a:lnSpc>
              <a:buNone/>
            </a:pPr>
            <a:r>
              <a:rPr lang="ko-KR" sz="12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  </a:t>
            </a:r>
            <a:pPr latinLnBrk="0"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scikit-learn 1.9.1의 StratifiedGroupKFold는 크고 치우친 그룹을 seed와 무관하게 같은 fold에 넣는다. 쉬운 Loc 가족 132장(28개 lot, 한 제품)이 항상 test에 들어감</a:t>
            </a:r>
            <a:endParaRPr lang="ko-KR" sz="1200" dirty="0"/>
          </a:p>
          <a:p>
            <a:pPr latinLnBrk="0" algn="l" indent="0" marL="0">
              <a:lnSpc>
                <a:spcPts val="1800"/>
              </a:lnSpc>
              <a:buNone/>
            </a:pPr>
            <a:r>
              <a:rPr lang="ko-KR" sz="12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놓쳤나  </a:t>
            </a:r>
            <a:pPr latinLnBrk="0"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검증은 '분할 사이 겹침 0'만 확인했고, test 구성이 seed에 따라 바뀌는지는 보지 않음</a:t>
            </a:r>
            <a:endParaRPr lang="ko-KR" sz="1200" dirty="0"/>
          </a:p>
          <a:p>
            <a:pPr latinLnBrk="0" algn="l" indent="0" marL="0">
              <a:lnSpc>
                <a:spcPts val="1800"/>
              </a:lnSpc>
              <a:buNone/>
            </a:pPr>
            <a:r>
              <a:rPr lang="ko-KR" sz="12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→ 수정  </a:t>
            </a:r>
            <a:pPr latinLnBrk="0"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변경 후 베이스라인이 '좋아진' 것을 의심 → seed 10개 재분할에서 규칙 간 Loc 격차 15%p → 가족 하나만 옮기는 개입 실험으로 확인 → fold→분할 대응을 seed로 무작위 치환하고 전 모델 재학습 (결론 유지, 대표 수치 0.893 → 0.909)</a:t>
            </a:r>
            <a:endParaRPr lang="ko-KR" sz="1200" dirty="0"/>
          </a:p>
          <a:p>
            <a:pPr latinLnBrk="0" algn="l" indent="0" marL="0">
              <a:lnSpc>
                <a:spcPts val="1800"/>
              </a:lnSpc>
              <a:buNone/>
            </a:pPr>
            <a:r>
              <a:rPr lang="ko-KR" sz="12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  </a:t>
            </a:r>
            <a:pPr latinLnBrk="0"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직후 train–test 쌍둥이·lot 겹침 0과 클래스별 최대 덩어리 비중을 검사</a:t>
            </a:r>
            <a:endParaRPr lang="ko-KR" sz="1200" dirty="0"/>
          </a:p>
        </p:txBody>
      </p:sp>
      <p:pic>
        <p:nvPicPr>
          <p:cNvPr id="7" name="Image 0" descr="fig/p4_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828800"/>
            <a:ext cx="4754880" cy="3383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5349240"/>
            <a:ext cx="2109155" cy="960120"/>
          </a:xfrm>
          <a:prstGeom prst="roundRect">
            <a:avLst>
              <a:gd name="adj" fmla="val 476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5422392"/>
            <a:ext cx="188969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spcAft>
                <a:spcPts val="300"/>
              </a:spcAft>
              <a:buNone/>
            </a:pPr>
            <a:r>
              <a:rPr lang="ko-KR" sz="105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셔플 라벨 (negative control)</a:t>
            </a:r>
            <a:endParaRPr lang="ko-KR" sz="1050" dirty="0"/>
          </a:p>
          <a:p>
            <a:pPr latinLnBrk="0" algn="l" indent="0" marL="0">
              <a:lnSpc>
                <a:spcPts val="1400"/>
              </a:lnSpc>
              <a:buNone/>
            </a:pPr>
            <a:r>
              <a:rPr lang="ko-KR" sz="10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macro-F1 0.102 = 다수 클래스 수준</a:t>
            </a:r>
            <a:endParaRPr lang="ko-KR" sz="1050" dirty="0"/>
          </a:p>
        </p:txBody>
      </p:sp>
      <p:sp>
        <p:nvSpPr>
          <p:cNvPr id="10" name="Shape 7"/>
          <p:cNvSpPr/>
          <p:nvPr/>
        </p:nvSpPr>
        <p:spPr>
          <a:xfrm>
            <a:off x="2794955" y="5349240"/>
            <a:ext cx="2109155" cy="960120"/>
          </a:xfrm>
          <a:prstGeom prst="roundRect">
            <a:avLst>
              <a:gd name="adj" fmla="val 476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04683" y="5422392"/>
            <a:ext cx="188969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spcAft>
                <a:spcPts val="300"/>
              </a:spcAft>
              <a:buNone/>
            </a:pPr>
            <a:r>
              <a:rPr lang="ko-KR" sz="105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무작위 분할 vs 주 분할</a:t>
            </a:r>
            <a:endParaRPr lang="ko-KR" sz="1050" dirty="0"/>
          </a:p>
          <a:p>
            <a:pPr latinLnBrk="0" algn="l" indent="0" marL="0">
              <a:lnSpc>
                <a:spcPts val="1400"/>
              </a:lnSpc>
              <a:buNone/>
            </a:pPr>
            <a:r>
              <a:rPr lang="ko-KR" sz="10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0.895 vs 0.909. 누수를 막은 뒤에는 차이 없음</a:t>
            </a:r>
            <a:endParaRPr lang="ko-KR" sz="1050" dirty="0"/>
          </a:p>
        </p:txBody>
      </p:sp>
      <p:sp>
        <p:nvSpPr>
          <p:cNvPr id="12" name="Shape 9"/>
          <p:cNvSpPr/>
          <p:nvPr/>
        </p:nvSpPr>
        <p:spPr>
          <a:xfrm>
            <a:off x="5041270" y="5349240"/>
            <a:ext cx="2109155" cy="960120"/>
          </a:xfrm>
          <a:prstGeom prst="roundRect">
            <a:avLst>
              <a:gd name="adj" fmla="val 476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50998" y="5422392"/>
            <a:ext cx="188969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spcAft>
                <a:spcPts val="300"/>
              </a:spcAft>
              <a:buNone/>
            </a:pPr>
            <a:r>
              <a:rPr lang="ko-KR" sz="105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외곽선 개입 실험</a:t>
            </a:r>
            <a:endParaRPr lang="ko-KR" sz="1050" dirty="0"/>
          </a:p>
          <a:p>
            <a:pPr latinLnBrk="0" algn="l" indent="0" marL="0">
              <a:lnSpc>
                <a:spcPts val="1400"/>
              </a:lnSpc>
              <a:buNone/>
            </a:pPr>
            <a:r>
              <a:rPr lang="ko-KR" sz="10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25×27 제품 외곽선을 바꿔 끼워도 예측 99.5% 이상 유지 → 지름길 아님</a:t>
            </a:r>
            <a:endParaRPr lang="ko-KR" sz="1050" dirty="0"/>
          </a:p>
        </p:txBody>
      </p:sp>
      <p:sp>
        <p:nvSpPr>
          <p:cNvPr id="14" name="Shape 11"/>
          <p:cNvSpPr/>
          <p:nvPr/>
        </p:nvSpPr>
        <p:spPr>
          <a:xfrm>
            <a:off x="7287585" y="5349240"/>
            <a:ext cx="2109155" cy="960120"/>
          </a:xfrm>
          <a:prstGeom prst="roundRect">
            <a:avLst>
              <a:gd name="adj" fmla="val 476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97313" y="5422392"/>
            <a:ext cx="188969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spcAft>
                <a:spcPts val="300"/>
              </a:spcAft>
              <a:buNone/>
            </a:pPr>
            <a:r>
              <a:rPr lang="ko-KR" sz="105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96장 이중맹검 판정</a:t>
            </a:r>
            <a:endParaRPr lang="ko-KR" sz="1050" dirty="0"/>
          </a:p>
          <a:p>
            <a:pPr latinLnBrk="0" algn="l" indent="0" marL="0">
              <a:lnSpc>
                <a:spcPts val="1400"/>
              </a:lnSpc>
              <a:buNone/>
            </a:pPr>
            <a:r>
              <a:rPr lang="ko-KR" sz="10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평가자 일치 70%. 애매 46% / 모델 27% / 라벨 의심 27%. 약점은 6~10다이 짧은 Scratch</a:t>
            </a:r>
            <a:endParaRPr lang="ko-KR" sz="1050" dirty="0"/>
          </a:p>
        </p:txBody>
      </p:sp>
      <p:sp>
        <p:nvSpPr>
          <p:cNvPr id="16" name="Shape 13"/>
          <p:cNvSpPr/>
          <p:nvPr/>
        </p:nvSpPr>
        <p:spPr>
          <a:xfrm>
            <a:off x="9533900" y="5349240"/>
            <a:ext cx="2109155" cy="960120"/>
          </a:xfrm>
          <a:prstGeom prst="roundRect">
            <a:avLst>
              <a:gd name="adj" fmla="val 476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43628" y="5422392"/>
            <a:ext cx="188969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spcAft>
                <a:spcPts val="300"/>
              </a:spcAft>
              <a:buNone/>
            </a:pPr>
            <a:r>
              <a:rPr lang="ko-KR" sz="105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폴더 재현</a:t>
            </a:r>
            <a:endParaRPr lang="ko-KR" sz="1050" dirty="0"/>
          </a:p>
          <a:p>
            <a:pPr latinLnBrk="0" algn="l" indent="0" marL="0">
              <a:lnSpc>
                <a:spcPts val="1400"/>
              </a:lnSpc>
              <a:buNone/>
            </a:pPr>
            <a:r>
              <a:rPr lang="ko-KR" sz="10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clone → README 순서 실행 1시간 8분 → 비교 10개 항목 전부 일치</a:t>
            </a:r>
            <a:endParaRPr lang="ko-KR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3200"/>
              </a:lnSpc>
              <a:buNone/>
            </a:pPr>
            <a:r>
              <a:rPr lang="ko-KR" sz="26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중 7시간 40분: 체크포인트 6개에서 멈춰 판단 13건을 내리고, 오류 14건을 기록했다</a:t>
            </a:r>
            <a:endParaRPr lang="ko-KR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12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기록: PLAN.md(변경 이력 4건) · LOG.md(지시 원문·판단·오류) · RESULT.md(수치·버린 것 9·한계 9) · GLOSSARY.md  ·  저장소 공개</a:t>
            </a:r>
            <a:endParaRPr lang="ko-KR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90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LOG.md(판단 지점 1~13, 오류 기록 E1~E14), PLAN.md, RESULT.md</a:t>
            </a:r>
            <a:endParaRPr lang="ko-K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9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5</a:t>
            </a:r>
            <a:endParaRPr lang="ko-KR" sz="950" dirty="0"/>
          </a:p>
        </p:txBody>
      </p:sp>
      <p:pic>
        <p:nvPicPr>
          <p:cNvPr id="6" name="Image 0" descr="fig/p5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06424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6301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950" dirty="0">
                <a:solidFill>
                  <a:srgbClr val="525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시간은 T0(2026-09-27 14:48, 첫 지시) 기준 경과  ·  파란 점 = 체크포인트(보고 후 지시 대기), 주황 점 = 오류 발견</a:t>
            </a:r>
            <a:endParaRPr lang="ko-KR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950208"/>
            <a:ext cx="3515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125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정한 것 (13건 중 3건)</a:t>
            </a:r>
            <a:endParaRPr lang="ko-KR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351525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1600"/>
              </a:lnSpc>
              <a:buNone/>
            </a:pPr>
            <a:r>
              <a:rPr lang="ko-KR" sz="11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없는 638,507장 제외  </a:t>
            </a:r>
            <a:pPr latinLnBrk="0" algn="l" indent="0" marL="0">
              <a:lnSpc>
                <a:spcPts val="1600"/>
              </a:lnSpc>
              <a:spcAft>
                <a:spcPts val="500"/>
              </a:spcAft>
              <a:buNone/>
            </a:pPr>
            <a:r>
              <a:rPr lang="ko-KR" sz="11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분포가 다르고(불량 0개 맵 5.8만 장), 평가 맵의 쌍둥이 5,408장이 섞여 있어서</a:t>
            </a:r>
            <a:endParaRPr lang="ko-KR" sz="1100" dirty="0"/>
          </a:p>
          <a:p>
            <a:pPr latinLnBrk="0" algn="l" indent="0" marL="0">
              <a:lnSpc>
                <a:spcPts val="1600"/>
              </a:lnSpc>
              <a:buNone/>
            </a:pPr>
            <a:r>
              <a:rPr lang="ko-KR" sz="11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 기준 macro-F1 0.80  </a:t>
            </a:r>
            <a:pPr latinLnBrk="0" algn="l" indent="0" marL="0">
              <a:lnSpc>
                <a:spcPts val="1600"/>
              </a:lnSpc>
              <a:spcAft>
                <a:spcPts val="500"/>
              </a:spcAft>
              <a:buNone/>
            </a:pPr>
            <a:r>
              <a:rPr lang="ko-KR" sz="11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선행연구의 lot 분할 0.85는 재기록 사본 누수를 포함했을 가능성, 라벨 노이즈도 확인돼서</a:t>
            </a:r>
            <a:endParaRPr lang="ko-KR" sz="1100" dirty="0"/>
          </a:p>
          <a:p>
            <a:pPr latinLnBrk="0" algn="l" indent="0" marL="0">
              <a:lnSpc>
                <a:spcPts val="1600"/>
              </a:lnSpc>
              <a:buNone/>
            </a:pPr>
            <a:r>
              <a:rPr lang="ko-KR" sz="11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불균형은 가중 손실 대신 val 사후 보정  </a:t>
            </a:r>
            <a:pPr latinLnBrk="0" algn="l" indent="0" marL="0">
              <a:lnSpc>
                <a:spcPts val="1600"/>
              </a:lnSpc>
              <a:spcAft>
                <a:spcPts val="500"/>
              </a:spcAft>
              <a:buNone/>
            </a:pPr>
            <a:r>
              <a:rPr lang="ko-KR" sz="11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test에서 비교해 채택 (weighted CE 0.825 &lt; CE 0.901)</a:t>
            </a:r>
            <a:endParaRPr lang="ko-KR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338218" y="3950208"/>
            <a:ext cx="3515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125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 · 다음 단계</a:t>
            </a:r>
            <a:endParaRPr lang="ko-KR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338218" y="4251960"/>
            <a:ext cx="351525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1600"/>
              </a:lnSpc>
              <a:buNone/>
            </a:pPr>
            <a:r>
              <a:rPr lang="ko-KR" sz="11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분할  </a:t>
            </a:r>
            <a:pPr latinLnBrk="0" algn="l" indent="0" marL="0">
              <a:lnSpc>
                <a:spcPts val="1600"/>
              </a:lnSpc>
              <a:spcAft>
                <a:spcPts val="500"/>
              </a:spcAft>
              <a:buNone/>
            </a:pPr>
            <a:r>
              <a:rPr lang="ko-KR" sz="11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10개 평균보다 약 0.01 낙관 → 그룹 5-fold로 전체 평가</a:t>
            </a:r>
            <a:endParaRPr lang="ko-KR" sz="1100" dirty="0"/>
          </a:p>
          <a:p>
            <a:pPr latinLnBrk="0" algn="l" indent="0" marL="0">
              <a:lnSpc>
                <a:spcPts val="1600"/>
              </a:lnSpc>
              <a:buNone/>
            </a:pPr>
            <a:r>
              <a:rPr lang="ko-KR" sz="11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드문 클래스  </a:t>
            </a:r>
            <a:pPr latinLnBrk="0" algn="l" indent="0" marL="0">
              <a:lnSpc>
                <a:spcPts val="1600"/>
              </a:lnSpc>
              <a:spcAft>
                <a:spcPts val="500"/>
              </a:spcAft>
              <a:buNone/>
            </a:pPr>
            <a:r>
              <a:rPr lang="ko-KR" sz="11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Near-full test 18장, CI 0.70–1.00 → 표본 확보 전까지 수치 유보</a:t>
            </a:r>
            <a:endParaRPr lang="ko-KR" sz="1100" dirty="0"/>
          </a:p>
          <a:p>
            <a:pPr latinLnBrk="0" algn="l" indent="0" marL="0">
              <a:lnSpc>
                <a:spcPts val="1600"/>
              </a:lnSpc>
              <a:buNone/>
            </a:pPr>
            <a:r>
              <a:rPr lang="ko-KR" sz="11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노이즈 · 짧은 Scratch  </a:t>
            </a:r>
            <a:pPr latinLnBrk="0" algn="l" indent="0" marL="0">
              <a:lnSpc>
                <a:spcPts val="1600"/>
              </a:lnSpc>
              <a:spcAft>
                <a:spcPts val="500"/>
              </a:spcAft>
              <a:buNone/>
            </a:pPr>
            <a:r>
              <a:rPr lang="ko-KR" sz="11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맵 다른 라벨 14쌍 → none↔Edge-Loc 기준 재정의, 6~10다이 선용 고해상도 입력</a:t>
            </a:r>
            <a:endParaRPr lang="ko-KR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27797" y="3950208"/>
            <a:ext cx="3515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buNone/>
            </a:pPr>
            <a:r>
              <a:rPr lang="ko-KR" sz="125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AI와 일한 방식</a:t>
            </a:r>
            <a:endParaRPr lang="ko-KR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127797" y="4251960"/>
            <a:ext cx="351525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l" indent="0" marL="0">
              <a:lnSpc>
                <a:spcPts val="1600"/>
              </a:lnSpc>
              <a:buNone/>
            </a:pPr>
            <a:r>
              <a:rPr lang="ko-KR" sz="11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 </a:t>
            </a:r>
            <a:pPr latinLnBrk="0" algn="l" indent="0" marL="0">
              <a:lnSpc>
                <a:spcPts val="1600"/>
              </a:lnSpc>
              <a:spcAft>
                <a:spcPts val="500"/>
              </a:spcAft>
              <a:buNone/>
            </a:pPr>
            <a:r>
              <a:rPr lang="ko-KR" sz="11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정의·평가 설계·판단·최종 검토: 본인 / 구현·실험·문헌 조사: Claude Code</a:t>
            </a:r>
            <a:endParaRPr lang="ko-KR" sz="1100" dirty="0"/>
          </a:p>
          <a:p>
            <a:pPr latinLnBrk="0" algn="l" indent="0" marL="0">
              <a:lnSpc>
                <a:spcPts val="1600"/>
              </a:lnSpc>
              <a:buNone/>
            </a:pPr>
            <a:r>
              <a:rPr lang="ko-KR" sz="11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  </a:t>
            </a:r>
            <a:pPr latinLnBrk="0" algn="l" indent="0" marL="0">
              <a:lnSpc>
                <a:spcPts val="1600"/>
              </a:lnSpc>
              <a:spcAft>
                <a:spcPts val="500"/>
              </a:spcAft>
              <a:buNone/>
            </a:pPr>
            <a:r>
              <a:rPr lang="ko-KR" sz="11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누수 판정 기준, 수치 채택, 버그 판정은 위임하지 않음. 체크포인트마다 선택지와 근거를 받아 결정</a:t>
            </a:r>
            <a:endParaRPr lang="ko-KR" sz="1100" dirty="0"/>
          </a:p>
          <a:p>
            <a:pPr latinLnBrk="0" algn="l" indent="0" marL="0">
              <a:lnSpc>
                <a:spcPts val="1600"/>
              </a:lnSpc>
              <a:buNone/>
            </a:pPr>
            <a:r>
              <a:rPr lang="ko-KR" sz="1100" b="1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 </a:t>
            </a:r>
            <a:pPr latinLnBrk="0" algn="l" indent="0" marL="0">
              <a:lnSpc>
                <a:spcPts val="1600"/>
              </a:lnSpc>
              <a:spcAft>
                <a:spcPts val="500"/>
              </a:spcAft>
              <a:buNone/>
            </a:pPr>
            <a:r>
              <a:rPr lang="ko-KR" sz="1100" dirty="0">
                <a:solidFill>
                  <a:srgbClr val="0B0B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조사·계산은 독립 에이전트가 반박 검증(오류 14건 중 7건 발견). 배운 것: 수치는 실행에서만, 좋은 결과일수록 먼저 의심</a:t>
            </a:r>
            <a:endParaRPr lang="ko-KR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WM-811K 웨이퍼 맵 결함 패턴 분류</dc:title>
  <dc:subject>PptxGenJS Presentation</dc:subject>
  <dc:creator>이진성</dc:creator>
  <cp:lastModifiedBy>이진성</cp:lastModifiedBy>
  <cp:revision>1</cp:revision>
  <dcterms:created xsi:type="dcterms:W3CDTF">2026-09-27T14:38:24Z</dcterms:created>
  <dcterms:modified xsi:type="dcterms:W3CDTF">2026-09-27T14:38:24Z</dcterms:modified>
</cp:coreProperties>
</file>