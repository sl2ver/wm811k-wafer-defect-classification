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40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웨이퍼 맵 불량 패턴 분류</a:t>
            </a:r>
            <a:endParaRPr lang="ko-KR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6060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20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lot 단위로 나눈 평가에서 macro-F1 0.909를 확인한 소형 CNN</a:t>
            </a:r>
            <a:endParaRPr lang="ko-KR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004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4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WM-811K 공개 데이터  |  개인 프로젝트  |  2026. 9.</a:t>
            </a:r>
            <a:endParaRPr lang="ko-KR" sz="1400" dirty="0"/>
          </a:p>
        </p:txBody>
      </p:sp>
      <p:pic>
        <p:nvPicPr>
          <p:cNvPr id="5" name="Image 0" descr="fig/p1_wafer_str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931920"/>
            <a:ext cx="10881360" cy="1463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897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6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이진성</a:t>
            </a:r>
            <a:endParaRPr lang="ko-KR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개요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구현·실험은 Claude Code, 평가 설계와 판단·검증은 제가 맡았습니다. 새 lot에서 macro-F1 0.909.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/ 8</a:t>
            </a:r>
            <a:endParaRPr lang="ko-KR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94560"/>
          <a:ext cx="6400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5303520"/>
              </a:tblGrid>
              <a:tr h="51206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WM-811K 웨이퍼 맵 811,457장 중 라벨 있는 172,950장, 불량 패턴 9종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문제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웨이퍼의 복사본이 학습과 평가에 섞이는 누수를 막고,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lot에서 성능 재기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macro-F1 0.843(베이스라인) → 0.909(CNN),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모든 패턴 recall 0.77 이상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활용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 Code가 구현·실험, 별도 검증 에이전트 45개가 재검산.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체크포인트 6개에서 판단 13건, 오류 15건 기록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572000"/>
          <a:ext cx="64008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5760720"/>
              </a:tblGrid>
              <a:tr h="27432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용어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lot: 함께 처리한 웨이퍼 묶음(최대 25장) · macro-F1:</a:t>
                      </a:r>
                      <a:br/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패턴 9종 F1의 평균 · recall: 실제 그 패턴 중 맞힌 비율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7406640" y="2194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2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순서</a:t>
            </a:r>
            <a:endParaRPr lang="ko-KR" sz="1200" dirty="0"/>
          </a:p>
        </p:txBody>
      </p:sp>
      <p:sp>
        <p:nvSpPr>
          <p:cNvPr id="10" name="Shape 6"/>
          <p:cNvSpPr/>
          <p:nvPr/>
        </p:nvSpPr>
        <p:spPr>
          <a:xfrm>
            <a:off x="7406640" y="2514600"/>
            <a:ext cx="4142232" cy="457200"/>
          </a:xfrm>
          <a:prstGeom prst="roundRect">
            <a:avLst>
              <a:gd name="adj" fmla="val 12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543800" y="25146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5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</a:t>
            </a:r>
            <a:pPr latinLnBrk="0" indent="0" marL="0">
              <a:buNone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정의와 평가 설계</a:t>
            </a:r>
            <a:endParaRPr lang="ko-KR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10744200" y="25146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3쪽</a:t>
            </a:r>
            <a:endParaRPr lang="ko-KR" sz="1200" dirty="0"/>
          </a:p>
        </p:txBody>
      </p:sp>
      <p:sp>
        <p:nvSpPr>
          <p:cNvPr id="13" name="Shape 9"/>
          <p:cNvSpPr/>
          <p:nvPr/>
        </p:nvSpPr>
        <p:spPr>
          <a:xfrm>
            <a:off x="7406640" y="3081528"/>
            <a:ext cx="4142232" cy="457200"/>
          </a:xfrm>
          <a:prstGeom prst="roundRect">
            <a:avLst>
              <a:gd name="adj" fmla="val 12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543800" y="30815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5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</a:t>
            </a:r>
            <a:pPr latinLnBrk="0" indent="0" marL="0">
              <a:buNone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베이스라인과 소형 CNN</a:t>
            </a:r>
            <a:endParaRPr lang="ko-KR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10744200" y="30815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4쪽</a:t>
            </a:r>
            <a:endParaRPr lang="ko-KR" sz="1200" dirty="0"/>
          </a:p>
        </p:txBody>
      </p:sp>
      <p:sp>
        <p:nvSpPr>
          <p:cNvPr id="16" name="Shape 12"/>
          <p:cNvSpPr/>
          <p:nvPr/>
        </p:nvSpPr>
        <p:spPr>
          <a:xfrm>
            <a:off x="7406640" y="3648456"/>
            <a:ext cx="4142232" cy="457200"/>
          </a:xfrm>
          <a:prstGeom prst="roundRect">
            <a:avLst>
              <a:gd name="adj" fmla="val 12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543800" y="364845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5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</a:t>
            </a:r>
            <a:pPr latinLnBrk="0" indent="0" marL="0">
              <a:buNone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검증과 오류 수정</a:t>
            </a:r>
            <a:endParaRPr lang="ko-KR" sz="1350" dirty="0"/>
          </a:p>
        </p:txBody>
      </p:sp>
      <p:sp>
        <p:nvSpPr>
          <p:cNvPr id="18" name="Text 14"/>
          <p:cNvSpPr txBox="1"/>
          <p:nvPr/>
        </p:nvSpPr>
        <p:spPr>
          <a:xfrm>
            <a:off x="10744200" y="364845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5쪽</a:t>
            </a:r>
            <a:endParaRPr lang="ko-KR" sz="1200" dirty="0"/>
          </a:p>
        </p:txBody>
      </p:sp>
      <p:sp>
        <p:nvSpPr>
          <p:cNvPr id="19" name="Shape 15"/>
          <p:cNvSpPr/>
          <p:nvPr/>
        </p:nvSpPr>
        <p:spPr>
          <a:xfrm>
            <a:off x="7406640" y="4215384"/>
            <a:ext cx="4142232" cy="457200"/>
          </a:xfrm>
          <a:prstGeom prst="roundRect">
            <a:avLst>
              <a:gd name="adj" fmla="val 12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543800" y="421538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5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 </a:t>
            </a:r>
            <a:pPr latinLnBrk="0" indent="0" marL="0">
              <a:buNone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활용 ① 지시와 역할</a:t>
            </a:r>
            <a:endParaRPr lang="ko-KR" sz="1350" dirty="0"/>
          </a:p>
        </p:txBody>
      </p:sp>
      <p:sp>
        <p:nvSpPr>
          <p:cNvPr id="21" name="Text 17"/>
          <p:cNvSpPr txBox="1"/>
          <p:nvPr/>
        </p:nvSpPr>
        <p:spPr>
          <a:xfrm>
            <a:off x="10744200" y="42153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6쪽</a:t>
            </a:r>
            <a:endParaRPr lang="ko-KR" sz="1200" dirty="0"/>
          </a:p>
        </p:txBody>
      </p:sp>
      <p:sp>
        <p:nvSpPr>
          <p:cNvPr id="22" name="Shape 18"/>
          <p:cNvSpPr/>
          <p:nvPr/>
        </p:nvSpPr>
        <p:spPr>
          <a:xfrm>
            <a:off x="7406640" y="4782312"/>
            <a:ext cx="4142232" cy="457200"/>
          </a:xfrm>
          <a:prstGeom prst="roundRect">
            <a:avLst>
              <a:gd name="adj" fmla="val 12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543800" y="47823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5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 </a:t>
            </a:r>
            <a:pPr latinLnBrk="0" indent="0" marL="0">
              <a:buNone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활용 ② 검증과 오류 적발</a:t>
            </a:r>
            <a:endParaRPr lang="ko-KR" sz="1350" dirty="0"/>
          </a:p>
        </p:txBody>
      </p:sp>
      <p:sp>
        <p:nvSpPr>
          <p:cNvPr id="24" name="Text 20"/>
          <p:cNvSpPr txBox="1"/>
          <p:nvPr/>
        </p:nvSpPr>
        <p:spPr>
          <a:xfrm>
            <a:off x="10744200" y="478231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7쪽</a:t>
            </a:r>
            <a:endParaRPr lang="ko-KR" sz="1200" dirty="0"/>
          </a:p>
        </p:txBody>
      </p:sp>
      <p:sp>
        <p:nvSpPr>
          <p:cNvPr id="25" name="Shape 21"/>
          <p:cNvSpPr/>
          <p:nvPr/>
        </p:nvSpPr>
        <p:spPr>
          <a:xfrm>
            <a:off x="7406640" y="5349240"/>
            <a:ext cx="4142232" cy="457200"/>
          </a:xfrm>
          <a:prstGeom prst="roundRect">
            <a:avLst>
              <a:gd name="adj" fmla="val 12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7543800" y="53492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5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 </a:t>
            </a:r>
            <a:pPr latinLnBrk="0" indent="0" marL="0">
              <a:buNone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결론·한계·재현 정보</a:t>
            </a:r>
            <a:endParaRPr lang="ko-KR" sz="1350" dirty="0"/>
          </a:p>
        </p:txBody>
      </p:sp>
      <p:sp>
        <p:nvSpPr>
          <p:cNvPr id="27" name="Text 23"/>
          <p:cNvSpPr txBox="1"/>
          <p:nvPr/>
        </p:nvSpPr>
        <p:spPr>
          <a:xfrm>
            <a:off x="10744200" y="53492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8쪽</a:t>
            </a:r>
            <a:endParaRPr lang="ko-KR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정의: 데이터와 평가 방식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AI 에이전트 10개가 찾은 이상점 17개 중 복사본 누수를 핵심 문제로 정하고, lot과 복사본을 한 묶음으로 나눴습니다.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outputs/eda/summary.json, outputs/splits/split_summary.json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/ 8</a:t>
            </a:r>
            <a:endParaRPr lang="ko-KR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4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누수 3겹</a:t>
            </a:r>
            <a:endParaRPr lang="ko-KR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95728"/>
          <a:ext cx="49377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3657600"/>
              </a:tblGrid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원본 분할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test 3,158장이 train의 복사본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lot 단위 분할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재검사 복사본이 양쪽에 남음(Center 40.7%)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반전·회전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뒤집거나 돌린 복사본까지 8가지 변환으로 비교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886200"/>
          <a:ext cx="49377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749040"/>
              </a:tblGrid>
              <a:tr h="310896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3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채택한 분할</a:t>
                      </a:r>
                      <a:endParaRPr lang="ko-KR" sz="13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3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lot + 10픽셀 이내 복사본을 한 묶음으로 70:15:15</a:t>
                      </a:r>
                      <a:endParaRPr lang="ko-KR" sz="13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3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성공 기준</a:t>
                      </a:r>
                      <a:endParaRPr lang="ko-KR" sz="13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3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macro-F1 0.80 이상,</a:t>
                      </a:r>
                      <a:br/>
                      <a:pPr latinLnBrk="0" indent="0" marL="0">
                        <a:buNone/>
                      </a:pPr>
                      <a:r>
                        <a:rPr lang="ko-KR" sz="13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모든 패턴 recall 0.50 이상, 베이스라인 초과</a:t>
                      </a:r>
                      <a:endParaRPr lang="ko-KR" sz="13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40080" y="5166360"/>
            <a:ext cx="4937760" cy="777240"/>
          </a:xfrm>
          <a:prstGeom prst="roundRect">
            <a:avLst>
              <a:gd name="adj" fmla="val 588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" y="5230368"/>
          <a:ext cx="4718304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3758184"/>
              </a:tblGrid>
              <a:tr h="24688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 Code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탐색·분할 스크립트 구현,</a:t>
                      </a:r>
                      <a:br/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이상점 탐색 에이전트 10개 병렬 실행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본인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정제 규칙·분할 방식·성공 기준 결정(판단 지점 6·7)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</a:tbl>
          </a:graphicData>
        </a:graphic>
      </p:graphicFrame>
      <p:pic>
        <p:nvPicPr>
          <p:cNvPr id="13" name="Image 0" descr="fig/p3_leak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2103120"/>
            <a:ext cx="5715000" cy="2926080"/>
          </a:xfrm>
          <a:prstGeom prst="rect">
            <a:avLst/>
          </a:prstGeom>
        </p:spPr>
      </p:pic>
      <p:pic>
        <p:nvPicPr>
          <p:cNvPr id="14" name="Image 1" descr="fig/p3_pai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4800600"/>
            <a:ext cx="5715000" cy="1554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방법과 결과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구현은 AI에 맡기고 개선 방향과 채택 기준은 제가 정했습니다.</a:t>
            </a:r>
            <a:br/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같은 test 25,444장에서 macro-F1 0.843 → 0.909.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outputs/baseline/results.json, outputs/cnn/results.json. 신뢰구간은 연결 성분 부트스트랩 1,000회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/ 8</a:t>
            </a:r>
            <a:endParaRPr lang="ko-KR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48840"/>
          <a:ext cx="51206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874520"/>
                <a:gridCol w="1143000"/>
              </a:tblGrid>
              <a:tr h="36576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모델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macro-F1 (95% CI)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최저 recall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베이스라인 (특징 23개 + RF)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0.843 (0.820–0.858)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0.497 (Loc)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소형 CNN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0.901 (0.863–0.918)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0.763 (Loc)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소형 CNN + val 보정 (최종)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0.909 (0.885–0.922)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0.775 (Loc)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886200"/>
          <a:ext cx="51206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3840480"/>
              </a:tblGrid>
              <a:tr h="310896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3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방법</a:t>
                      </a:r>
                      <a:endParaRPr lang="ko-KR" sz="13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3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64×64 축소(블록 최대값으로 Scratch 보존),</a:t>
                      </a:r>
                      <a:br/>
                      <a:pPr latinLnBrk="0" indent="0" marL="0">
                        <a:buNone/>
                      </a:pPr>
                      <a:r>
                        <a:rPr lang="ko-KR" sz="13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반전·회전 증강, 합성곱 4블록 58만 파라미터.</a:t>
                      </a:r>
                      <a:br/>
                      <a:pPr latinLnBrk="0" indent="0" marL="0">
                        <a:buNone/>
                      </a:pPr>
                      <a:r>
                        <a:rPr lang="ko-KR" sz="13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보정값은 val에서만 정함</a:t>
                      </a:r>
                      <a:endParaRPr lang="ko-KR" sz="13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3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효과 없던 시도</a:t>
                      </a:r>
                      <a:endParaRPr lang="ko-KR" sz="13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3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class-weighted CE: 0.825,</a:t>
                      </a:r>
                      <a:br/>
                      <a:pPr latinLnBrk="0" indent="0" marL="0">
                        <a:buNone/>
                      </a:pPr>
                      <a:r>
                        <a:rPr lang="ko-KR" sz="13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none 오탐 증가 → 미채택</a:t>
                      </a:r>
                      <a:endParaRPr lang="ko-KR" sz="13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40080" y="5394960"/>
            <a:ext cx="5120640" cy="777240"/>
          </a:xfrm>
          <a:prstGeom prst="roundRect">
            <a:avLst>
              <a:gd name="adj" fmla="val 588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" y="5458968"/>
          <a:ext cx="4901184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3941064"/>
              </a:tblGrid>
              <a:tr h="24688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 Code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특징 23개·RF·CNN 구현, 학습 5회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본인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방향과 입력 크기 결정(판단 지점 8),</a:t>
                      </a:r>
                      <a:br/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weighted CE 폐기(판단 지점 10)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</a:tbl>
          </a:graphicData>
        </a:graphic>
      </p:graphicFrame>
      <p:pic>
        <p:nvPicPr>
          <p:cNvPr id="12" name="Image 0" descr="fig/p4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2103120"/>
            <a:ext cx="5532120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검증과 오류 수정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점수가 예상보다 높게 나오자 검증 에이전트 4개와 개입 실험을 돌렸고, 분할 절차의 오류 하나를 잡아 고쳤습니다.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outputs/splits/split_seed_variance.json, outputs/cnn/outline_intervention.json, LOG.md 오류 E11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/ 8</a:t>
            </a:r>
            <a:endParaRPr lang="ko-KR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48840"/>
          <a:ext cx="54864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423160"/>
                <a:gridCol w="1737360"/>
              </a:tblGrid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방법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우연 수준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라벨을 섞어 학습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macro-F1 0.102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누수 제거 효과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무작위 분할 vs lot 분할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0.895 vs 0.909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지름길 학습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제품 외곽선을 바꿔 끼움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예측 99.5% 유지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오분류 검토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96장, 라벨 가린 독립 판정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라벨 의심 27%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재현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폴더에서 처음부터 재실행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10개 항목 일치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40080" y="5029200"/>
            <a:ext cx="5486400" cy="777240"/>
          </a:xfrm>
          <a:prstGeom prst="roundRect">
            <a:avLst>
              <a:gd name="adj" fmla="val 588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" y="5093208"/>
          <a:ext cx="5266944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4306824"/>
              </a:tblGrid>
              <a:tr h="24688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 Code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 에이전트 4개 병렬, 개입 실험 구현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본인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오류 판정, 전부 재학습 결정(판단 지점 9)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</a:tbl>
          </a:graphicData>
        </a:graphic>
      </p:graphicFrame>
      <p:pic>
        <p:nvPicPr>
          <p:cNvPr id="11" name="Image 0" descr="fig/p5_e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2103120"/>
            <a:ext cx="4937760" cy="26517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492240" y="48463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분할 절차 오류 (LOG E11)</a:t>
            </a:r>
            <a:endParaRPr lang="ko-KR" sz="130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5138928"/>
          <a:ext cx="50292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4526280"/>
              </a:tblGrid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원인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StratifiedGroupKFold가 큰 그룹을 seed와 무관하게 같은 fold에 고정 →</a:t>
                      </a:r>
                      <a:br/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쉬운 Loc 132장이 항상 test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발견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베이스라인이 이유 없이 오름 →</a:t>
                      </a:r>
                      <a:br/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seed 10개로 재분할 → lot 묶음 하나를 빼 보는 실험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수정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fold 배정 무작위 치환, 전 모델 재학습(0.893 → 0.909),</a:t>
                      </a:r>
                      <a:br/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분할 후 겹침 검사 추가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활용 ①  지시와 역할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첫 지시문에 AI가 할 일과 멈출 지점, 기록 규칙을 정해 두고 체크포인트 6개에서 판단 13건을 내렸습니다.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docs/wafer_project_prompt.md(첫 지시문), LOG.md 17:04 보고와 판단 지점 8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8</a:t>
            </a:r>
            <a:endParaRPr lang="ko-KR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03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지시문의 규칙 (원문)</a:t>
            </a:r>
            <a:endParaRPr lang="ko-KR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5486400" cy="1691640"/>
          </a:xfrm>
          <a:prstGeom prst="roundRect">
            <a:avLst>
              <a:gd name="adj" fmla="val 2703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542032"/>
            <a:ext cx="5212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1800"/>
              </a:lnSpc>
              <a:spcAft>
                <a:spcPts val="700"/>
              </a:spcAft>
              <a:buNone/>
            </a:pPr>
            <a:r>
              <a:rPr lang="ko-KR" sz="12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“판단이 필요한 지점에서는 멈추고 나에게 묻는다.</a:t>
            </a:r>
            <a:br/>
            <a:pPr latinLnBrk="0" indent="0" marL="0">
              <a:lnSpc>
                <a:spcPts val="1800"/>
              </a:lnSpc>
              <a:spcAft>
                <a:spcPts val="700"/>
              </a:spcAft>
              <a:buNone/>
            </a:pPr>
            <a:r>
              <a:rPr lang="ko-KR" sz="12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선택지 2~3개와 각각의 장단점을 제시하고, 추천이 있으면 이유와 함께 밝힌다.”</a:t>
            </a:r>
            <a:endParaRPr lang="ko-KR" sz="1250" dirty="0"/>
          </a:p>
          <a:p>
            <a:pPr latinLnBrk="0" indent="0" marL="0">
              <a:lnSpc>
                <a:spcPts val="1800"/>
              </a:lnSpc>
              <a:spcAft>
                <a:spcPts val="700"/>
              </a:spcAft>
              <a:buNone/>
            </a:pPr>
            <a:r>
              <a:rPr lang="ko-KR" sz="12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“숫자는 실행 결과에서만 가져온다. 추정치를 결과처럼 쓰지 않는다.”</a:t>
            </a:r>
            <a:endParaRPr lang="ko-KR" sz="1250" dirty="0"/>
          </a:p>
          <a:p>
            <a:pPr latinLnBrk="0" indent="0" marL="0">
              <a:lnSpc>
                <a:spcPts val="1800"/>
              </a:lnSpc>
              <a:spcAft>
                <a:spcPts val="700"/>
              </a:spcAft>
              <a:buNone/>
            </a:pPr>
            <a:r>
              <a:rPr lang="ko-KR" sz="12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“오류 기록: 네 코드나 판단이 틀렸던 경우,</a:t>
            </a:r>
            <a:br/>
            <a:pPr latinLnBrk="0" indent="0" marL="0">
              <a:lnSpc>
                <a:spcPts val="1800"/>
              </a:lnSpc>
              <a:spcAft>
                <a:spcPts val="700"/>
              </a:spcAft>
              <a:buNone/>
            </a:pPr>
            <a:r>
              <a:rPr lang="ko-KR" sz="12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누가(나/너) 어떻게 발견했고 무엇을 바꿨는지.”</a:t>
            </a:r>
            <a:endParaRPr lang="ko-KR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297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흐름</a:t>
            </a:r>
            <a:endParaRPr lang="ko-KR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617720"/>
            <a:ext cx="5486400" cy="365760"/>
          </a:xfrm>
          <a:prstGeom prst="roundRect">
            <a:avLst>
              <a:gd name="adj" fmla="val 12500"/>
            </a:avLst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6177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   </a:t>
            </a:r>
            <a:pPr latinLnBrk="0" indent="0" marL="0">
              <a:buNone/>
            </a:pPr>
            <a:r>
              <a:rPr lang="ko-KR" sz="12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· 성공 기준 · 지시문</a:t>
            </a:r>
            <a:endParaRPr lang="ko-KR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495604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ct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ko-KR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5486400" cy="365760"/>
          </a:xfrm>
          <a:prstGeom prst="roundRect">
            <a:avLst>
              <a:gd name="adj" fmla="val 125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5074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25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Code   </a:t>
            </a:r>
            <a:pPr latinLnBrk="0" indent="0" marL="0">
              <a:buNone/>
            </a:pPr>
            <a:r>
              <a:rPr lang="ko-KR" sz="12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 · 실험 · 선택지 제시</a:t>
            </a:r>
            <a:endParaRPr lang="ko-KR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246120" y="541324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ct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ko-KR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5532120"/>
            <a:ext cx="5486400" cy="365760"/>
          </a:xfrm>
          <a:prstGeom prst="roundRect">
            <a:avLst>
              <a:gd name="adj" fmla="val 125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55321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25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에이전트   </a:t>
            </a:r>
            <a:pPr latinLnBrk="0" indent="0" marL="0">
              <a:buNone/>
            </a:pPr>
            <a:r>
              <a:rPr lang="ko-KR" sz="12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재계산 · 반박 · 개입 실험</a:t>
            </a:r>
            <a:endParaRPr lang="ko-KR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246120" y="587044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ct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ko-KR" sz="1000" dirty="0"/>
          </a:p>
        </p:txBody>
      </p:sp>
      <p:sp>
        <p:nvSpPr>
          <p:cNvPr id="21" name="Shape 19"/>
          <p:cNvSpPr/>
          <p:nvPr/>
        </p:nvSpPr>
        <p:spPr>
          <a:xfrm>
            <a:off x="640080" y="5989320"/>
            <a:ext cx="5486400" cy="365760"/>
          </a:xfrm>
          <a:prstGeom prst="roundRect">
            <a:avLst>
              <a:gd name="adj" fmla="val 12500"/>
            </a:avLst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59893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   </a:t>
            </a:r>
            <a:pPr latinLnBrk="0" indent="0" marL="0">
              <a:buNone/>
            </a:pPr>
            <a:r>
              <a:rPr lang="ko-KR" sz="12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체크포인트에서 판단 · 기록</a:t>
            </a:r>
            <a:endParaRPr lang="ko-KR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2103120"/>
            <a:ext cx="5148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체크포인트 3: AI의 제안과 내 결정</a:t>
            </a:r>
            <a:endParaRPr lang="ko-KR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395728"/>
          <a:ext cx="5148072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2542032"/>
              </a:tblGrid>
              <a:tr h="27432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AI가 보고한 개선 방향 후보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결정 (판단 지점 8)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 소형 CNN: 맵을 격자로 맞추고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회전·반전 증강. 손으로 만든 특징은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모양·위치 정보를 뭉갬. ② 특징 강화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 부스팅: 가볍지만 개선 폭 제한.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사후 임계값 보정: 빠르지만 드문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패턴은 val 과적합 위험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①+③ 조합. weighted CE는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test에서 비교해 결정하고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보정값은 val에서만. 비교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기준은 test 최고 베이스라인.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결과: weighted CE 0.825로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폐기, 보정 채택 0.909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 22"/>
          <p:cNvSpPr txBox="1"/>
          <p:nvPr/>
        </p:nvSpPr>
        <p:spPr>
          <a:xfrm>
            <a:off x="6400800" y="5120640"/>
            <a:ext cx="5148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5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체크포인트 6개 · 판단 13건 · 워크플로 10회(에이전트 45개) · 오류 15건 · 작업 시간 7시간 40분</a:t>
            </a:r>
            <a:endParaRPr lang="ko-KR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활용 ②  검증과 오류 적발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구현 AI와 별개의 검증 에이전트 45개가 AI의 오류 15건 중 7건을 잡았고, 8건은 자체 점검 규칙에서 나왔습니다.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LOG.md 오류 기록 E1~E15, 워크플로 결과 항목 10건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/ 8</a:t>
            </a:r>
            <a:endParaRPr lang="ko-KR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03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낸 오류를 잡은 사례</a:t>
            </a:r>
            <a:endParaRPr lang="ko-KR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95728"/>
          <a:ext cx="5486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560320"/>
                <a:gridCol w="1371600"/>
              </a:tblGrid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오류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어떻게 드러났나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조치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E10 잘못된 원인 가설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AI가 짠 진단 스크립트가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 가설을 반증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가설 철회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E11 분할 절차 오류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반박 검증 에이전트가 sklearn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소스와 개입 실험으로 확인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절차 수정,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전부 재학습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E13 확률 열 버그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검증 에이전트가 보정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결과를 재현하다 발견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저장 로직 수정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572000"/>
          <a:ext cx="54864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389120"/>
              </a:tblGrid>
              <a:tr h="27432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산출물 반려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2회(대시보드 문구, 포트폴리오 1차).</a:t>
                      </a:r>
                      <a:br/>
                      <a:pPr latinLnBrk="0" indent="0" marL="0">
                        <a:buNone/>
                      </a:pPr>
                      <a:r>
                        <a:rPr lang="ko-KR" sz="12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참고 사례를 조사하게 한 뒤 다시 씀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규칙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 에이전트에는 원본 코드 대신 데이터와</a:t>
                      </a:r>
                      <a:br/>
                      <a:pPr latinLnBrk="0" indent="0" marL="0">
                        <a:buNone/>
                      </a:pPr>
                      <a:r>
                        <a:rPr lang="ko-KR" sz="12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 파일만 주고 다시 계산하게 함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400800" y="2103120"/>
            <a:ext cx="5148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검증·조사 워크플로 10회 (에이전트 45개)</a:t>
            </a:r>
            <a:endParaRPr lang="ko-KR" sz="13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395728"/>
          <a:ext cx="51480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822960"/>
                <a:gridCol w="2496312"/>
              </a:tblGrid>
              <a:tr h="402336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에이전트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확보·문헌 조사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조사 5 + 반박 5 → E1~E4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이상점 탐색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탐색 4 + 검증 → 정정 7건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베이스라인·분할 재계산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재계산, 재구현, 코드 감사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Loc recall 원인 조사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원인 추적·반박 → E11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CNN 검증 2회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지표·짝비교·지름길·이중맹검 → E13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문체·포트폴리오 조사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대시보드 4, 포트폴리오 6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결론·한계·재현 정보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같은 제품의 새 lot에 대한 1차 분류 보조 수준입니다. 수율 개선 효과는 주장하지 않습니다.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/ 8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4884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5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</a:t>
            </a:r>
            <a:endParaRPr lang="ko-KR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514600"/>
            <a:ext cx="3429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marL="177800" indent="-1778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누수를 막은 평가에서 CNN 0.909,</a:t>
            </a:r>
            <a:br/>
            <a:pPr latinLnBrk="0" indent="0" marL="0">
              <a:lnSpc>
                <a:spcPts val="2000"/>
              </a:lnSpc>
              <a:spcAft>
                <a:spcPts val="700"/>
              </a:spcAft>
              <a:buNone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베이스라인 0.843</a:t>
            </a:r>
            <a:endParaRPr lang="ko-KR" sz="1350" dirty="0"/>
          </a:p>
          <a:p>
            <a:pPr latinLnBrk="0" marL="177800" indent="-1778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분할 절차 하나로 Loc recall 12%p 차이.</a:t>
            </a:r>
            <a:br/>
            <a:pPr latinLnBrk="0" indent="0" marL="0">
              <a:lnSpc>
                <a:spcPts val="2000"/>
              </a:lnSpc>
              <a:spcAft>
                <a:spcPts val="700"/>
              </a:spcAft>
              <a:buNone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모델보다 평가 방식부터 확인</a:t>
            </a:r>
            <a:endParaRPr lang="ko-KR" sz="1350" dirty="0"/>
          </a:p>
          <a:p>
            <a:pPr latinLnBrk="0" marL="177800" indent="-1778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5종 통과, 새 폴더 재현 일치</a:t>
            </a:r>
            <a:endParaRPr lang="ko-KR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214884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5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한계·다음 단계</a:t>
            </a:r>
            <a:endParaRPr lang="ko-KR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343400" y="2514600"/>
            <a:ext cx="3429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marL="177800" indent="-1778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나눈 분할. seed 10개 평균은</a:t>
            </a:r>
            <a:br/>
            <a:pPr latinLnBrk="0" indent="0" marL="0">
              <a:lnSpc>
                <a:spcPts val="2000"/>
              </a:lnSpc>
              <a:spcAft>
                <a:spcPts val="700"/>
              </a:spcAft>
              <a:buNone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 0.01 낮음 → 그룹 5-fold</a:t>
            </a:r>
            <a:endParaRPr lang="ko-KR" sz="1350" dirty="0"/>
          </a:p>
          <a:p>
            <a:pPr latinLnBrk="0" marL="177800" indent="-1778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Near-full test 18장, 신뢰구간 0.70–1.00</a:t>
            </a:r>
            <a:endParaRPr lang="ko-KR" sz="1350" dirty="0"/>
          </a:p>
          <a:p>
            <a:pPr latinLnBrk="0" marL="177800" indent="-1778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Scratch 약점,</a:t>
            </a:r>
            <a:br/>
            <a:pPr latinLnBrk="0" indent="0" marL="0">
              <a:lnSpc>
                <a:spcPts val="2000"/>
              </a:lnSpc>
              <a:spcAft>
                <a:spcPts val="700"/>
              </a:spcAft>
              <a:buNone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라벨 노이즈 14쌍 → 라벨 기준 재정의</a:t>
            </a:r>
            <a:endParaRPr lang="ko-KR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14884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5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배운 점</a:t>
            </a:r>
            <a:endParaRPr lang="ko-KR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2514600"/>
            <a:ext cx="3429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marL="177800" indent="-1778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수치는 실행 결과에서만 옮긴다</a:t>
            </a:r>
            <a:endParaRPr lang="ko-KR" sz="1350" dirty="0"/>
          </a:p>
          <a:p>
            <a:pPr latinLnBrk="0" marL="177800" indent="-1778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점수가 갑자기 오르면 원인부터 찾는다</a:t>
            </a:r>
            <a:endParaRPr lang="ko-KR" sz="1350" dirty="0"/>
          </a:p>
          <a:p>
            <a:pPr latinLnBrk="0" marL="177800" indent="-1778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데이터는 분할과 라벨부터 검사한다</a:t>
            </a:r>
            <a:endParaRPr lang="ko-KR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937760"/>
            <a:ext cx="10911535" cy="1325880"/>
          </a:xfrm>
          <a:prstGeom prst="roundRect">
            <a:avLst>
              <a:gd name="adj" fmla="val 4138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5029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재현 정보</a:t>
            </a:r>
            <a:endParaRPr lang="ko-KR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5349240"/>
          <a:ext cx="1054577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9814255"/>
              </a:tblGrid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환경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Python 3.12.6, torch 2.7.1+cu118, scikit-learn 1.9.1, Quadro P2000, 시드 0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실행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python scripts/run_all.py (약 4~5시간) → outputs/*.json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저장소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github.com/sl2ver/wm811k-wafer-defect-classification — PLAN.md / LOG.md(판단 13건·오류 15건) / RESULT.md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웨이퍼 맵 불량 패턴 분류</dc:title>
  <dc:subject>PptxGenJS Presentation</dc:subject>
  <dc:creator>이진성</dc:creator>
  <cp:lastModifiedBy>이진성</cp:lastModifiedBy>
  <cp:revision>1</cp:revision>
  <dcterms:created xsi:type="dcterms:W3CDTF">2026-09-27T16:53:21Z</dcterms:created>
  <dcterms:modified xsi:type="dcterms:W3CDTF">2026-09-27T16:53:21Z</dcterms:modified>
</cp:coreProperties>
</file>