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40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웨이퍼 맵 불량 패턴 분류</a:t>
            </a:r>
            <a:endParaRPr lang="ko-KR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20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lot 단위로 나눈 평가에서 macro-F1 0.909를 확인한 소형 CNN</a:t>
            </a:r>
            <a:endParaRPr lang="ko-K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WM-811K 공개 데이터</a:t>
            </a:r>
            <a:endParaRPr lang="ko-KR" sz="1400" dirty="0"/>
          </a:p>
        </p:txBody>
      </p:sp>
      <p:pic>
        <p:nvPicPr>
          <p:cNvPr id="5" name="Image 0" descr="fig/p1_wafer_stri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0080" y="3931920"/>
            <a:ext cx="1088136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6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이진성</a:t>
            </a:r>
            <a:endParaRPr lang="ko-KR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개요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학습에 쓰지 않은 lot 25,444장에서 macro-F1 0.909. 평가 방식을 먼저 고치고 다섯 가지로 검증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9</a:t>
            </a:r>
            <a:endParaRPr lang="ko-KR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303520"/>
              </a:tblGrid>
              <a:tr h="51206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WM-811K 웨이퍼 맵 811,457장 중 라벨 있는 172,950장, 불량 패턴 9종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웨이퍼의 복사본이 학습과 평가에 섞이는 누수를 막고,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lot에서 성능 재기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0.843(베이스라인) → 0.909(CNN),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패턴 recall 0.77 이상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활용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구현·실험 Claude Code / 판단·검증 본인 / 별도 검증 에이전트 45개.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체크포인트 6개에서 판단 13건, 오류 15건 기록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72000"/>
          <a:ext cx="64008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760720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용어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lot: 함께 처리한 웨이퍼 묶음(최대 25장) · macro-F1: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9종 F1의 평균 · recall: 실제 그 패턴 중 맞힌 비율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06640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2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ko-KR" sz="1200" dirty="0"/>
          </a:p>
        </p:txBody>
      </p:sp>
      <p:sp>
        <p:nvSpPr>
          <p:cNvPr id="10" name="Shape 6"/>
          <p:cNvSpPr/>
          <p:nvPr/>
        </p:nvSpPr>
        <p:spPr>
          <a:xfrm>
            <a:off x="7406640" y="2514600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543800" y="251460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정의와 평가 설계</a:t>
            </a:r>
            <a:endParaRPr lang="ko-KR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0744200" y="2514600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3" name="Shape 9"/>
          <p:cNvSpPr/>
          <p:nvPr/>
        </p:nvSpPr>
        <p:spPr>
          <a:xfrm>
            <a:off x="7406640" y="3026664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543800" y="302666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베이스라인과 소형 CNN</a:t>
            </a:r>
            <a:endParaRPr lang="ko-KR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0744200" y="3026664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4쪽</a:t>
            </a:r>
            <a:endParaRPr lang="ko-KR" sz="1200" dirty="0"/>
          </a:p>
        </p:txBody>
      </p:sp>
      <p:sp>
        <p:nvSpPr>
          <p:cNvPr id="16" name="Shape 12"/>
          <p:cNvSpPr/>
          <p:nvPr/>
        </p:nvSpPr>
        <p:spPr>
          <a:xfrm>
            <a:off x="7406640" y="3538728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543800" y="353872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10744200" y="3538728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5쪽</a:t>
            </a:r>
            <a:endParaRPr lang="ko-KR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4050792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543800" y="405079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① 시간과 자원</a:t>
            </a:r>
            <a:endParaRPr lang="ko-KR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10744200" y="4050792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6쪽</a:t>
            </a:r>
            <a:endParaRPr lang="ko-KR" sz="1200" dirty="0"/>
          </a:p>
        </p:txBody>
      </p:sp>
      <p:sp>
        <p:nvSpPr>
          <p:cNvPr id="22" name="Shape 18"/>
          <p:cNvSpPr/>
          <p:nvPr/>
        </p:nvSpPr>
        <p:spPr>
          <a:xfrm>
            <a:off x="7406640" y="4562856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456285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② 지시와 판단</a:t>
            </a:r>
            <a:endParaRPr lang="ko-KR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10744200" y="4562856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7쪽</a:t>
            </a:r>
            <a:endParaRPr lang="ko-KR" sz="1200" dirty="0"/>
          </a:p>
        </p:txBody>
      </p:sp>
      <p:sp>
        <p:nvSpPr>
          <p:cNvPr id="25" name="Shape 21"/>
          <p:cNvSpPr/>
          <p:nvPr/>
        </p:nvSpPr>
        <p:spPr>
          <a:xfrm>
            <a:off x="7406640" y="5074920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543800" y="507492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③ 검증과 오류 적발</a:t>
            </a:r>
            <a:endParaRPr lang="ko-KR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10744200" y="5074920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8쪽</a:t>
            </a:r>
            <a:endParaRPr lang="ko-KR" sz="1200" dirty="0"/>
          </a:p>
        </p:txBody>
      </p:sp>
      <p:sp>
        <p:nvSpPr>
          <p:cNvPr id="28" name="Shape 24"/>
          <p:cNvSpPr/>
          <p:nvPr/>
        </p:nvSpPr>
        <p:spPr>
          <a:xfrm>
            <a:off x="7406640" y="5586984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543800" y="558698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 </a:t>
            </a:r>
            <a:pPr latinLnBrk="0" indent="0" marL="0"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10744200" y="5586984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9쪽</a:t>
            </a:r>
            <a:endParaRPr lang="ko-KR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정의: 데이터와 평가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에이전트 10개가 찾은 이상점 17개 중 복사본 누수를 핵심 문제로 선정. lot과 복사본을 한 묶음으로 나누는 규칙 수립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outputs/eda/summary.json, outputs/splits/split_summary.json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9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3겹</a:t>
            </a:r>
            <a:endParaRPr lang="ko-KR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65760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 3,158장이 train의 복사본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단위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재검사 복사본이 양쪽에 남음(Center 40.7%)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뒤집거나 돌린 복사본까지 8가지 변환으로 비교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86200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</a:tblGrid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채택한 분할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+ 10픽셀 이내 복사본을 한 묶음으로 70:15:15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0.80 이상,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패턴 recall 0.50 이상, 베이스라인 초과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166360"/>
            <a:ext cx="493776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230368"/>
          <a:ext cx="471830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75818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탐색·분할 스크립트 구현,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이상점 탐색 에이전트 10개 병렬 실행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정제 규칙·분할 방식·성공 기준 결정(판단 지점 6·7)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3" name="Image 0" descr="fig/p3_leakag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52160" y="2103120"/>
            <a:ext cx="5715000" cy="2926080"/>
          </a:xfrm>
          <a:prstGeom prst="rect">
            <a:avLst/>
          </a:prstGeom>
        </p:spPr>
      </p:pic>
      <p:pic>
        <p:nvPicPr>
          <p:cNvPr id="14" name="Image 1" descr="fig/p3_pairs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2160" y="4800600"/>
            <a:ext cx="571500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결과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test 25,444장에서 소형 CNN macro-F1 0.843 → 0.909. Loc·Scratch recall이 가장 크게 상승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outputs/baseline/results.json, outputs/cnn/results.json. 신뢰구간은 연결 성분 부트스트랩 1,000회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9</a:t>
            </a:r>
            <a:endParaRPr lang="ko-KR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874520"/>
                <a:gridCol w="1143000"/>
              </a:tblGrid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(95% CI)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최저 recall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 (특징 23개 + RF)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0.843 (0.820–0.858)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0.497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0.901 (0.863–0.918)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0.763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 + val 보정 (최종)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0.909 (0.885–0.922)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0.775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8620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840480"/>
              </a:tblGrid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64×64 축소(블록 최대값으로 Scratch 보존),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 증강, 합성곱 4블록 58만 파라미터.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보정값은 val에서만 정함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 없던 시도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class-weighted CE: 0.825,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none 오탐 증가 → 미채택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394960"/>
            <a:ext cx="512064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458968"/>
          <a:ext cx="490118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94106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특징 23개·RF·CNN 구현, 학습 5회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방향과 입력 크기 결정(판단 지점 8),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weighted CE 폐기(판단 지점 10)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fig/p4_recal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5040" y="2103120"/>
            <a:ext cx="553212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예상보다 높은 점수 → 검증 에이전트 4개와 개입 실험 → 분할 절차 오류 1건 발견·수정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outputs/splits/split_seed_variance.json, outputs/cnn/outline_intervention.json, LOG.md 오류 E11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9</a:t>
            </a:r>
            <a:endParaRPr lang="ko-KR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4864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423160"/>
                <a:gridCol w="173736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우연 수준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라벨을 섞어 학습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0.102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제거 효과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무작위 분할 vs lot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0.895 vs 0.909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 학습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외곽선을 바꿔 끼움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99.5% 유지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오분류 검토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96장, 라벨 가린 독립 판정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의심 27%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폴더에서 처음부터 재실행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10개 항목 일치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5029200"/>
            <a:ext cx="548640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093208"/>
          <a:ext cx="526694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30682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에이전트 4개 병렬, 개입 실험 구현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판정, 전부 재학습 결정(판단 지점 9)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fig/p5_e11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92240" y="2103120"/>
            <a:ext cx="493776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92240" y="4846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오류 (LOG E11)</a:t>
            </a:r>
            <a:endParaRPr lang="ko-KR" sz="13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5138928"/>
          <a:ext cx="50292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526280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StratifiedGroupKFold가 큰 그룹을 seed와 무관하게 같은 fold에 고정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쉬운 Loc 132장이 항상 test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베이스라인이 이유 없이 오름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 10개로 재분할 → lot 묶음 하나를 빼 보는 실험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수정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fold 배정 무작위 치환, 전 모델 재학습(0.893 → 0.909),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후 겹침 검사 추가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①  시간과 자원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7시간 40분에 계획부터 재현 확인까지. 학습이 도는 동안 검증·조사 에이전트 35개를 병렬 운용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LOG.md 시각 기록(14:48–22:28), git log, scripts/*.py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9</a:t>
            </a:r>
            <a:endParaRPr lang="ko-KR" sz="1000" dirty="0"/>
          </a:p>
        </p:txBody>
      </p:sp>
      <p:pic>
        <p:nvPicPr>
          <p:cNvPr id="8" name="Image 0" descr="fig/p6_timelin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0080" y="2103120"/>
            <a:ext cx="10881360" cy="246888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754880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30175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작업 시간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7시간 40분 (14:48–22:28), 1인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GPU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5회, 3시간 36분 (Quadro P2000)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스크립트 12개 1,766줄, 커밋 16회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워크플로 8회 35개, 병렬 실행 약 3시간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LOG 1,155줄, PLAN·RESULT·GLOSSARY 412줄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754880"/>
          <a:ext cx="514807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07992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CNN 학습이 도는 동안 검증 에이전트 4개가 지표</a:t>
                      </a:r>
                      <a:br/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재계산·짝비교·지름길·이중맹검 수행(18:33–18:53)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 10개가 29분에 이상점 17개 → 스크립트로 재검산 1분 39초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 재실행 1시간 8분은 스크립트가 자동 비교(10개 항목)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②  지시와 판단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지시문에 멈출 지점과 기록 규칙을 명시. 체크포인트 6개에서 판단 13건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docs/wafer_project_prompt.md(첫 지시문), LOG.md 17:04 보고와 판단 지점 8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9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지시문의 규칙 (원문)</a:t>
            </a:r>
            <a:endParaRPr lang="ko-KR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5303520" cy="1737360"/>
          </a:xfrm>
          <a:prstGeom prst="roundRect">
            <a:avLst>
              <a:gd name="adj" fmla="val 263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42032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“판단이 필요한 지점에서는 멈추고 나에게 묻는다. 선택지 2~3개와</a:t>
            </a:r>
            <a:br/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각각의 장단점을 제시하고, 추천이 있으면 이유와 함께 밝힌다.”</a:t>
            </a:r>
            <a:endParaRPr lang="ko-KR" sz="1250" dirty="0"/>
          </a:p>
          <a:p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“숫자는 실행 결과에서만 가져온다. 추정치를 결과처럼 쓰지 않는다.”</a:t>
            </a:r>
            <a:endParaRPr lang="ko-KR" sz="1250" dirty="0"/>
          </a:p>
          <a:p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“오류 기록: 네 코드나 판단이 틀렸던 경우,</a:t>
            </a:r>
            <a:br/>
            <a:pPr latinLnBrk="0" indent="0" marL="0">
              <a:lnSpc>
                <a:spcPts val="1800"/>
              </a:lnSpc>
              <a:spcAft>
                <a:spcPts val="700"/>
              </a:spcAft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누가(나/너) 어떻게 발견했고 무엇을 바꿨는지.”</a:t>
            </a:r>
            <a:endParaRPr lang="ko-KR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3434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흐름</a:t>
            </a:r>
            <a:endParaRPr lang="ko-KR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66344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  </a:t>
            </a:r>
            <a:pPr latinLnBrk="0" indent="0" marL="0">
              <a:buNone/>
            </a:pPr>
            <a:r>
              <a:rPr lang="ko-KR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· 성공 기준 · 지시문</a:t>
            </a:r>
            <a:endParaRPr lang="ko-KR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498348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5102352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10235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  </a:t>
            </a:r>
            <a:pPr latinLnBrk="0" indent="0" marL="0"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· 실험 · 선택지 제시</a:t>
            </a:r>
            <a:endParaRPr lang="ko-KR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542239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5541264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54126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에이전트   </a:t>
            </a:r>
            <a:pPr latinLnBrk="0" indent="0" marL="0"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재계산 · 반박 · 개입 실험</a:t>
            </a:r>
            <a:endParaRPr lang="ko-KR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5861304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5980176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98017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  </a:t>
            </a:r>
            <a:pPr latinLnBrk="0" indent="0" marL="0">
              <a:buNone/>
            </a:pPr>
            <a:r>
              <a:rPr lang="ko-KR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체크포인트에서 판단 · 기록</a:t>
            </a:r>
            <a:endParaRPr lang="ko-KR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103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 3: AI의 제안과 내 결정</a:t>
            </a:r>
            <a:endParaRPr lang="ko-KR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395728"/>
          <a:ext cx="53309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633472"/>
              </a:tblGrid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보고한 개선 방향 후보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결정 (판단 지점 8)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소형 CNN: 맵을 격자로 맞추고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회전·반전 증강. 손으로 만든 특징은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모양·위치 정보를 뭉갬. ② 특징 강화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부스팅: 가볍지만 개선 폭 제한.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사후 임계값 보정: 빠르지만 드문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패턴은 val 과적합 위험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①+③ 조합. weighted CE는 같은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test에서 비교해 결정하고 보정값은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val에서만. 비교 기준은 test 최고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베이스라인. 결과: weighted CE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0.825로 폐기, 보정 채택 0.909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③  검증과 오류 적발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 AI와 분리한 검증 에이전트가 AI 오류 15건 중 7건 적발. 8건은 자체 점검 규칙으로 발견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LOG.md 오류 기록 E1~E15, 워크플로 결과 항목 10건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9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낸 오류를 잡은 사례</a:t>
            </a:r>
            <a:endParaRPr lang="ko-KR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137160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어떻게 드러났나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E10 잘못된 원인 가설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짠 진단 스크립트가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 가설을 반증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가설 철회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E11 분할 절차 오류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 검증 에이전트가 sklearn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소스와 개입 실험으로 확인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절차 수정,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재학습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E13 확률 열 버그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검증 에이전트가 보정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결과를 재현하다 발견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로직 수정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72000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389120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 반려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2회(대시보드 문구, 포트폴리오 1차).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참고 사례를 조사하게 한 뒤 다시 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에이전트에는 원본 코드 대신 데이터와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파일만 주고 다시 계산하게 함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0" y="210312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검증·조사 워크플로 10회 (에이전트 45개)</a:t>
            </a:r>
            <a:endParaRPr lang="ko-KR" sz="13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395728"/>
          <a:ext cx="51480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2496312"/>
              </a:tblGrid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확보·문헌 조사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조사 5 + 반박 5 → E1~E4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이상점 탐색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 4 + 검증 → 정정 7건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베이스라인·분할 재계산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재계산, 재구현, 코드 감사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Loc recall 원인 조사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 추적·반박 → E11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CNN 검증 2회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지표·짝비교·지름길·이중맹검 → E13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문체·포트폴리오 조사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4, 포트폴리오 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제품의 새 lot에 대한 1차 분류 보조 수준. 수율 개선 효과는 주장하지 않음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9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누수를 막은 평가에서 CNN 0.909, 베이스라인 0.843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하나로 Loc recall 12%p 차이. 모델보다 평가 방식부터 확인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5종 통과, 새 폴더 재현 일치</a:t>
            </a:r>
            <a:endParaRPr lang="ko-KR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한계·다음 단계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5146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나눈 분할. seed 10개 평균은 약 0.01 낮음 → 그룹 5-fold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Near-full test 18장, 신뢰구간 0.70–1.00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Scratch 약점, 라벨 노이즈 14쌍 → 라벨 기준 재정의</a:t>
            </a:r>
            <a:endParaRPr lang="ko-KR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937760"/>
            <a:ext cx="10911535" cy="1325880"/>
          </a:xfrm>
          <a:prstGeom prst="roundRect">
            <a:avLst>
              <a:gd name="adj" fmla="val 413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정보</a:t>
            </a:r>
            <a:endParaRPr lang="ko-KR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349240"/>
          <a:ext cx="1054577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814255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3.12.6, torch 2.7.1+cu118, scikit-learn 1.9.1, Quadro P2000, 시드 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scripts/run_all.py (약 4~5시간) → outputs/*.json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github.com/sl2ver/wm811k-wafer-defect-classification — PLAN.md / LOG.md(판단 13건·오류 15건) / RESULT.md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웨이퍼 맵 불량 패턴 분류</dc:title>
  <dc:subject>PptxGenJS Presentation</dc:subject>
  <dc:creator>이진성</dc:creator>
  <cp:lastModifiedBy>이진성</cp:lastModifiedBy>
  <cp:revision>1</cp:revision>
  <dcterms:created xsi:type="dcterms:W3CDTF">2026-09-27T17:10:38Z</dcterms:created>
  <dcterms:modified xsi:type="dcterms:W3CDTF">2026-09-27T17:10:38Z</dcterms:modified>
</cp:coreProperties>
</file>