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7373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40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웨이퍼 맵 불량 패턴 분류</a:t>
            </a:r>
            <a:endParaRPr lang="ko-KR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60604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2000" dirty="0">
                <a:solidFill>
                  <a:srgbClr val="1F4E9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lot 단위로 나눈 평가에서 macro-F1 0.909를 확인한 소형 CNN</a:t>
            </a:r>
            <a:endParaRPr lang="ko-KR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2004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4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WM-811K 공개 데이터</a:t>
            </a:r>
            <a:endParaRPr lang="ko-KR" sz="1400" dirty="0"/>
          </a:p>
        </p:txBody>
      </p:sp>
      <p:pic>
        <p:nvPicPr>
          <p:cNvPr id="5" name="Image 0" descr="fig/p1_wafer_stri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40080" y="3931920"/>
            <a:ext cx="10881360" cy="1463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5897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6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이진성</a:t>
            </a:r>
            <a:endParaRPr lang="ko-KR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ctr" indent="0" marL="0">
              <a:buNone/>
            </a:pPr>
            <a:r>
              <a:rPr 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438912"/>
            <a:ext cx="102257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28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개요와 진행 방식</a:t>
            </a:r>
            <a:endParaRPr lang="ko-KR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216152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lnSpc>
                <a:spcPts val="2600"/>
              </a:lnSpc>
              <a:buNone/>
            </a:pPr>
            <a:r>
              <a:rPr lang="ko-KR" sz="1800" dirty="0">
                <a:solidFill>
                  <a:srgbClr val="1F4E9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복사본 누수를 막은 평가에서 macro-F1 0.909.</a:t>
            </a:r>
            <a:br/>
            <a:pPr latinLnBrk="0" indent="0" marL="0">
              <a:lnSpc>
                <a:spcPts val="2600"/>
              </a:lnSpc>
              <a:buNone/>
            </a:pPr>
            <a:r>
              <a:rPr lang="ko-KR" sz="1800" dirty="0">
                <a:solidFill>
                  <a:srgbClr val="1F4E9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7시간 40분 동안 체크포인트 6개에서 판단 13건, 별도 검증 에이전트 35개를 병렬 운용</a:t>
            </a:r>
            <a:endParaRPr lang="ko-KR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19088"/>
            <a:ext cx="9997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용어 — lot: 함께 처리한 웨이퍼 묶음(최대 25장) · macro-F1: 패턴 9종 F1의 평균 · recall: 실제 그 패턴 중 맞힌 비율 · 근거(첨부 zip·GitHub 같은 경로): LOG.md 시각 기록, git log</a:t>
            </a:r>
            <a:endParaRPr lang="ko-KR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63721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r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/ 6</a:t>
            </a:r>
            <a:endParaRPr lang="ko-KR" sz="1000" dirty="0"/>
          </a:p>
        </p:txBody>
      </p:sp>
      <p:pic>
        <p:nvPicPr>
          <p:cNvPr id="8" name="Image 0" descr="fig/p6_timeline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40080" y="2103120"/>
            <a:ext cx="10881360" cy="2011680"/>
          </a:xfrm>
          <a:prstGeom prst="rect">
            <a:avLst/>
          </a:prstGeom>
        </p:spPr>
      </p:pic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251960"/>
          <a:ext cx="60350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937760"/>
              </a:tblGrid>
              <a:tr h="45720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WM-811K 웨이퍼 맵 811,457장 중 라벨 있는 172,950장, 불량 패턴 9종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문제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같은 웨이퍼의 복사본이 학습과 평가에 섞이는 누수를 막고,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새 lot에서 성능 재기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결과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macro-F1 0.843(베이스라인) → 0.909(CNN),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모든 패턴 recall 0.77 이상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투입 자원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1인 7시간 40분, GPU 학습 5회 3시간 36분,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스크립트 12개 1,766줄, 커밋 16회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6949440" y="4224528"/>
            <a:ext cx="4599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3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방식</a:t>
            </a:r>
            <a:endParaRPr lang="ko-KR" sz="1300" dirty="0"/>
          </a:p>
        </p:txBody>
      </p:sp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9440" y="4526280"/>
          <a:ext cx="4599432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3913632"/>
              </a:tblGrid>
              <a:tr h="274320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역할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구현·실험·문헌 조사 Claude Code /</a:t>
                      </a:r>
                      <a:br/>
                      <a:pPr latinLnBrk="0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문제 정의·평가 설계·판단·검증 본인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규칙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판단 지점에서 멈추고 선택지 2~3개와 장단점 제시</a:t>
                      </a:r>
                      <a:br/>
                      <a:pPr latinLnBrk="0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· 숫자는 실행 결과에서만 · 오류는 발견자까지 기록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검증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구현과 분리한 에이전트 35개(워크플로</a:t>
                      </a:r>
                      <a:br/>
                      <a:pPr latinLnBrk="0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8회)가 재계산·반박 → 오류 15건 중 7건 적발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ctr" indent="0" marL="0">
              <a:buNone/>
            </a:pPr>
            <a:r>
              <a:rPr 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438912"/>
            <a:ext cx="102257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28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정의: 데이터와 평가 방식</a:t>
            </a:r>
            <a:endParaRPr lang="ko-KR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216152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lnSpc>
                <a:spcPts val="2600"/>
              </a:lnSpc>
              <a:buNone/>
            </a:pPr>
            <a:r>
              <a:rPr lang="ko-KR" sz="1800" dirty="0">
                <a:solidFill>
                  <a:srgbClr val="1F4E9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에이전트 10개가 찾은 이상점 17개 중 복사본 누수를 핵심 문제로 선정. lot과 복사본을 한 묶음으로 나누는 규칙 수립</a:t>
            </a:r>
            <a:endParaRPr lang="ko-KR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19088"/>
            <a:ext cx="9997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근거(첨부 zip·GitHub 같은 경로): outputs/eda/summary.json, outputs/splits/split_summary.json</a:t>
            </a:r>
            <a:endParaRPr lang="ko-KR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63721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r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/ 6</a:t>
            </a:r>
            <a:endParaRPr lang="ko-KR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103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4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누수 3겹</a:t>
            </a:r>
            <a:endParaRPr lang="ko-KR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395728"/>
          <a:ext cx="493776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3657600"/>
              </a:tblGrid>
              <a:tr h="42062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원본 분할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test 3,158장이 train의 복사본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lot 단위 분할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재검사 복사본이 양쪽에 남음(Center 40.7%)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반전·회전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뒤집거나 돌린 복사본까지 8가지 변환으로 비교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886200"/>
          <a:ext cx="49377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749040"/>
              </a:tblGrid>
              <a:tr h="310896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3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채택한 분할</a:t>
                      </a:r>
                      <a:endParaRPr lang="ko-KR" sz="13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3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lot + 10픽셀 이내 복사본을 한 묶음으로 70:15:15</a:t>
                      </a:r>
                      <a:endParaRPr lang="ko-KR" sz="13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3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성공 기준</a:t>
                      </a:r>
                      <a:endParaRPr lang="ko-KR" sz="13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3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macro-F1 0.80 이상,</a:t>
                      </a:r>
                      <a:br/>
                      <a:pPr latinLnBrk="0" indent="0" marL="0">
                        <a:buNone/>
                      </a:pPr>
                      <a:r>
                        <a:rPr lang="ko-KR" sz="13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모든 패턴 recall 0.50 이상, 베이스라인 초과</a:t>
                      </a:r>
                      <a:endParaRPr lang="ko-KR" sz="13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40080" y="5166360"/>
            <a:ext cx="4937760" cy="777240"/>
          </a:xfrm>
          <a:prstGeom prst="roundRect">
            <a:avLst>
              <a:gd name="adj" fmla="val 5882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graphicFrame>
        <p:nvGraphicFramePr>
          <p:cNvPr id="10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" y="5230368"/>
          <a:ext cx="4718304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3758184"/>
              </a:tblGrid>
              <a:tr h="246888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b="1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Claude Code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탐색·분할 스크립트 구현. 이상점 탐색 에이전트 10개 29분 →</a:t>
                      </a:r>
                      <a:br/>
                      <a:pPr latinLnBrk="0" indent="0" marL="0">
                        <a:buNone/>
                      </a:pPr>
                      <a:r>
                        <a:rPr lang="ko-KR" sz="115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스크립트 재검산 1분 39초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b="1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본인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정제 규칙·분할 방식·성공 기준 결정(판단 지점 6·7)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</a:tr>
            </a:tbl>
          </a:graphicData>
        </a:graphic>
      </p:graphicFrame>
      <p:pic>
        <p:nvPicPr>
          <p:cNvPr id="13" name="Image 0" descr="fig/p3_leakage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852160" y="2103120"/>
            <a:ext cx="5715000" cy="2651760"/>
          </a:xfrm>
          <a:prstGeom prst="rect">
            <a:avLst/>
          </a:prstGeom>
        </p:spPr>
      </p:pic>
      <p:pic>
        <p:nvPicPr>
          <p:cNvPr id="14" name="Image 1" descr="fig/p3_pairs.sv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52160" y="4937760"/>
            <a:ext cx="57150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ctr" indent="0" marL="0">
              <a:buNone/>
            </a:pPr>
            <a:r>
              <a:rPr 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438912"/>
            <a:ext cx="102257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28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방법과 결과</a:t>
            </a:r>
            <a:endParaRPr lang="ko-KR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216152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lnSpc>
                <a:spcPts val="2600"/>
              </a:lnSpc>
              <a:buNone/>
            </a:pPr>
            <a:r>
              <a:rPr lang="ko-KR" sz="1800" dirty="0">
                <a:solidFill>
                  <a:srgbClr val="1F4E9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AI가 제시한 개선 방향 3개 중 소형 CNN + val 보정을 선택. 같은 test 25,444장에서 macro-F1 0.843 → 0.909</a:t>
            </a:r>
            <a:endParaRPr lang="ko-KR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19088"/>
            <a:ext cx="9997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근거(첨부 zip·GitHub 같은 경로): outputs/baseline/results.json, outputs/cnn/results.json(신뢰구간은 연결 성분 부트스트랩 1,000회), LOG.md 17:04 보고와 판단 지점 8</a:t>
            </a:r>
            <a:endParaRPr lang="ko-KR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63721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r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 / 6</a:t>
            </a:r>
            <a:endParaRPr lang="ko-KR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48840"/>
          <a:ext cx="51206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874520"/>
                <a:gridCol w="1143000"/>
              </a:tblGrid>
              <a:tr h="36576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모델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macro-F1 (95% CI)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최저 recall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베이스라인 (특징 23개 + RF)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0.843 (0.820–0.858)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0.497 (Loc)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소형 CNN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0.901 (0.863–0.918)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0.763 (Loc)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소형 CNN + val 보정 (최종)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0.909 (0.885–0.922)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0.775 (Loc)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840480"/>
          <a:ext cx="5120640" cy="914400"/>
        </p:xfrm>
        <a:graphic>
          <a:graphicData uri="http://schemas.openxmlformats.org/drawingml/2006/table">
            <a:tbl>
              <a:tblPr/>
              <a:tblGrid>
                <a:gridCol w="2606040"/>
                <a:gridCol w="2514600"/>
              </a:tblGrid>
              <a:tr h="27432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체크포인트 3: AI가 보고한 후보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결정 (판단 지점 8)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① 소형 CNN: 맵을 격자로 맞추고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1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회전·반전 증강 ② 특징 강화 +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1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부스팅: 개선 폭 제한 ③ 사후 임계값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1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보정: 드문 패턴은 val 과적합 위험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①+③ 조합, 입력은 64×64 불량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1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보존 축소. weighted CE는 같은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1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test에서 비교 → 0.825로 폐기.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1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보정값은 val에서만 → 0.909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640080" y="5349240"/>
            <a:ext cx="5120640" cy="777240"/>
          </a:xfrm>
          <a:prstGeom prst="roundRect">
            <a:avLst>
              <a:gd name="adj" fmla="val 5882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" y="5413248"/>
          <a:ext cx="4901184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3941064"/>
              </a:tblGrid>
              <a:tr h="246888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b="1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Claude Code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특징 23개·RF·CNN 구현, 학습 5회(GPU 3시간 36분)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b="1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본인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방향·입력 크기 결정(판단 지점 8),</a:t>
                      </a:r>
                      <a:br/>
                      <a:pPr latinLnBrk="0" indent="0" marL="0">
                        <a:buNone/>
                      </a:pPr>
                      <a:r>
                        <a:rPr lang="ko-KR" sz="115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weighted CE 폐기(판단 지점 10)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</a:tr>
            </a:tbl>
          </a:graphicData>
        </a:graphic>
      </p:graphicFrame>
      <p:pic>
        <p:nvPicPr>
          <p:cNvPr id="12" name="Image 0" descr="fig/p4_recall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35040" y="2103120"/>
            <a:ext cx="5532120" cy="40690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ctr" indent="0" marL="0">
              <a:buNone/>
            </a:pPr>
            <a:r>
              <a:rPr 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ko-KR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438912"/>
            <a:ext cx="102257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28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검증과 오류 수정</a:t>
            </a:r>
            <a:endParaRPr lang="ko-KR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216152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lnSpc>
                <a:spcPts val="2600"/>
              </a:lnSpc>
              <a:buNone/>
            </a:pPr>
            <a:r>
              <a:rPr lang="ko-KR" sz="1800" dirty="0">
                <a:solidFill>
                  <a:srgbClr val="1F4E9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예상보다 높은 점수 → 학습이 도는 동안 검증 에이전트 4개 병렬 + 개입 실험 → 분할 절차 오류 1건 발견·수정</a:t>
            </a:r>
            <a:endParaRPr lang="ko-KR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19088"/>
            <a:ext cx="9997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근거(첨부 zip·GitHub 같은 경로): outputs/splits/split_seed_variance.json, outputs/cnn/outline_intervention.json, LOG.md 오류 기록 E1~E15</a:t>
            </a:r>
            <a:endParaRPr lang="ko-KR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63721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r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 / 6</a:t>
            </a:r>
            <a:endParaRPr lang="ko-KR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48840"/>
          <a:ext cx="548640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2606040"/>
                <a:gridCol w="1554480"/>
              </a:tblGrid>
              <a:tr h="42062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검증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방법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결과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우연 수준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라벨을 섞어 학습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macro-F1 0.102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누수 제거 효과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무작위 분할 vs lot 분할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0.895 vs 0.909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지름길 학습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제품 외곽선을 바꿔 끼움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예측 99.5% 유지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오분류 검토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96장, 라벨 가린 독립 판정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라벨 의심 27%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재현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새 폴더에서 처음부터 재실행(자동,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1시간 8분)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10개 항목 일치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640080" y="4983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3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AI가 낸 오류 15건 중 검증 에이전트가 잡은 7건의 예</a:t>
            </a:r>
            <a:endParaRPr lang="ko-KR" sz="13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5285232"/>
          <a:ext cx="54864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4983480"/>
              </a:tblGrid>
              <a:tr h="256032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b="1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E10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AI가 세운 원인 가설을 AI가 짠 진단 스크립트가 반증 → 가설 철회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b="1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E11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반박 검증 에이전트가 scikit-learn 소스와 개입 실험으로 분할 오류 확인 →</a:t>
                      </a:r>
                      <a:br/>
                      <a:pPr latinLnBrk="0" indent="0" marL="0">
                        <a:buNone/>
                      </a:pPr>
                      <a:r>
                        <a:rPr lang="ko-KR" sz="115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전부 재학습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b="1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E13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지표 검증 에이전트가 보정 결과를 재현하다 확률 열 버그 발견 → 저장 로직 수정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1" name="Image 0" descr="fig/p5_e11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492240" y="2103120"/>
            <a:ext cx="4937760" cy="265176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492240" y="48463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3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분할 절차 오류 (LOG E11)</a:t>
            </a:r>
            <a:endParaRPr lang="ko-KR" sz="130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5138928"/>
          <a:ext cx="50292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4526280"/>
              </a:tblGrid>
              <a:tr h="256032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원인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StratifiedGroupKFold가 큰 그룹을 seed와 무관하게 같은 fold에 고정 →</a:t>
                      </a:r>
                      <a:br/>
                      <a:pPr latinLnBrk="0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쉬운 Loc 132장이 항상 test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발견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베이스라인이 이유 없이 오름 →</a:t>
                      </a:r>
                      <a:br/>
                      <a:pPr latinLnBrk="0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seed 10개로 재분할 → lot 묶음 하나를 빼 보는 실험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수정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fold 배정 무작위 치환, 전 모델 재학습(0.893 → 0.909),</a:t>
                      </a:r>
                      <a:br/>
                      <a:pPr latinLnBrk="0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분할 후 겹침 검사 추가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ctr" indent="0" marL="0">
              <a:buNone/>
            </a:pPr>
            <a:r>
              <a:rPr 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ko-KR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438912"/>
            <a:ext cx="102257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28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결론·한계·재현 정보</a:t>
            </a:r>
            <a:endParaRPr lang="ko-KR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216152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lnSpc>
                <a:spcPts val="2600"/>
              </a:lnSpc>
              <a:buNone/>
            </a:pPr>
            <a:r>
              <a:rPr lang="ko-KR" sz="1800" dirty="0">
                <a:solidFill>
                  <a:srgbClr val="1F4E9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같은 제품의 새 lot에 대한 1차 분류 보조 수준. 수율 개선 효과는 주장하지 않음</a:t>
            </a:r>
            <a:endParaRPr lang="ko-KR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19088"/>
            <a:ext cx="9997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근거(첨부 zip·GitHub 같은 경로): RESULT.md, scripts/compare_reproduction.py</a:t>
            </a:r>
            <a:endParaRPr lang="ko-KR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63721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r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 / 6</a:t>
            </a:r>
            <a:endParaRPr lang="ko-KR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1488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5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결론</a:t>
            </a:r>
            <a:endParaRPr lang="ko-KR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514600"/>
            <a:ext cx="5120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marL="177800" indent="-177800">
              <a:lnSpc>
                <a:spcPts val="2000"/>
              </a:lnSpc>
              <a:spcAft>
                <a:spcPts val="700"/>
              </a:spcAft>
              <a:buSzPct val="100000"/>
              <a:buChar char="•"/>
            </a:pPr>
            <a:r>
              <a:rPr lang="ko-KR" sz="13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누수를 막은 평가에서 CNN 0.909, 베이스라인 0.843</a:t>
            </a:r>
            <a:endParaRPr lang="ko-KR" sz="1350" dirty="0"/>
          </a:p>
          <a:p>
            <a:pPr latinLnBrk="0" marL="177800" indent="-177800">
              <a:lnSpc>
                <a:spcPts val="2000"/>
              </a:lnSpc>
              <a:spcAft>
                <a:spcPts val="700"/>
              </a:spcAft>
              <a:buSzPct val="100000"/>
              <a:buChar char="•"/>
            </a:pPr>
            <a:r>
              <a:rPr lang="ko-KR" sz="13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분할 절차 하나로 Loc recall 12%p 차이. 모델보다 평가 방식부터 확인</a:t>
            </a:r>
            <a:endParaRPr lang="ko-KR" sz="1350" dirty="0"/>
          </a:p>
          <a:p>
            <a:pPr latinLnBrk="0" marL="177800" indent="-177800">
              <a:lnSpc>
                <a:spcPts val="2000"/>
              </a:lnSpc>
              <a:spcAft>
                <a:spcPts val="700"/>
              </a:spcAft>
              <a:buSzPct val="100000"/>
              <a:buChar char="•"/>
            </a:pPr>
            <a:r>
              <a:rPr lang="ko-KR" sz="13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구현과 분리한 검증 에이전트가 오류 15건 중 7건 적발.</a:t>
            </a:r>
            <a:br/>
            <a:pPr latinLnBrk="0" indent="0" marL="0">
              <a:lnSpc>
                <a:spcPts val="2000"/>
              </a:lnSpc>
              <a:spcAft>
                <a:spcPts val="700"/>
              </a:spcAft>
              <a:buNone/>
            </a:pPr>
            <a:r>
              <a:rPr lang="ko-KR" sz="13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폴더 재현 일치</a:t>
            </a:r>
            <a:endParaRPr lang="ko-KR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217920" y="21488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5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한계·다음 단계</a:t>
            </a:r>
            <a:endParaRPr lang="ko-KR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2514600"/>
            <a:ext cx="5120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marL="177800" indent="-177800">
              <a:lnSpc>
                <a:spcPts val="2000"/>
              </a:lnSpc>
              <a:spcAft>
                <a:spcPts val="700"/>
              </a:spcAft>
              <a:buSzPct val="100000"/>
              <a:buChar char="•"/>
            </a:pPr>
            <a:r>
              <a:rPr lang="ko-KR" sz="13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나눈 분할. seed 10개 평균은 약 0.01 낮음 → 그룹 5-fold</a:t>
            </a:r>
            <a:endParaRPr lang="ko-KR" sz="1350" dirty="0"/>
          </a:p>
          <a:p>
            <a:pPr latinLnBrk="0" marL="177800" indent="-177800">
              <a:lnSpc>
                <a:spcPts val="2000"/>
              </a:lnSpc>
              <a:spcAft>
                <a:spcPts val="700"/>
              </a:spcAft>
              <a:buSzPct val="100000"/>
              <a:buChar char="•"/>
            </a:pPr>
            <a:r>
              <a:rPr lang="ko-KR" sz="13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Near-full test 18장, 신뢰구간 0.70–1.00</a:t>
            </a:r>
            <a:endParaRPr lang="ko-KR" sz="1350" dirty="0"/>
          </a:p>
          <a:p>
            <a:pPr latinLnBrk="0" marL="177800" indent="-177800">
              <a:lnSpc>
                <a:spcPts val="2000"/>
              </a:lnSpc>
              <a:spcAft>
                <a:spcPts val="700"/>
              </a:spcAft>
              <a:buSzPct val="100000"/>
              <a:buChar char="•"/>
            </a:pPr>
            <a:r>
              <a:rPr lang="ko-KR" sz="13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짧은 Scratch 약점, 라벨 노이즈 14쌍 → 라벨 기준 재정의</a:t>
            </a:r>
            <a:endParaRPr lang="ko-KR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4937760"/>
            <a:ext cx="10911535" cy="1325880"/>
          </a:xfrm>
          <a:prstGeom prst="roundRect">
            <a:avLst>
              <a:gd name="adj" fmla="val 4138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5029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3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재현 정보</a:t>
            </a:r>
            <a:endParaRPr lang="ko-KR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5349240"/>
          <a:ext cx="10545775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9814255"/>
              </a:tblGrid>
              <a:tr h="256032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환경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Python 3.12.6, torch 2.7.1+cu118, scikit-learn 1.9.1, Quadro P2000, 시드 0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실행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python scripts/run_all.py (약 4~5시간) → outputs/*.json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근거 파일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첨부 zip과 github.com/sl2ver/wm811k-wafer-defect-classification(공개)에 같은 구조로: PLAN.md /</a:t>
                      </a:r>
                      <a:br/>
                      <a:pPr latinLnBrk="0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LOG.md(지시 원문·판단·오류 기록) / RESULT.md / scripts / outputs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웨이퍼 맵 불량 패턴 분류</dc:title>
  <dc:subject>PptxGenJS Presentation</dc:subject>
  <dc:creator>이진성</dc:creator>
  <cp:lastModifiedBy>이진성</cp:lastModifiedBy>
  <cp:revision>1</cp:revision>
  <dcterms:created xsi:type="dcterms:W3CDTF">2026-09-27T17:42:46Z</dcterms:created>
  <dcterms:modified xsi:type="dcterms:W3CDTF">2026-09-27T17:42:46Z</dcterms:modified>
</cp:coreProperties>
</file>